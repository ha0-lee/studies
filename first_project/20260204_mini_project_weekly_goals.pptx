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5" r:id="rId3"/>
    <p:sldId id="267" r:id="rId4"/>
    <p:sldId id="268" r:id="rId5"/>
    <p:sldId id="269" r:id="rId6"/>
    <p:sldId id="261" r:id="rId7"/>
    <p:sldId id="270" r:id="rId8"/>
    <p:sldId id="271" r:id="rId9"/>
    <p:sldId id="262" r:id="rId10"/>
    <p:sldId id="260" r:id="rId11"/>
    <p:sldId id="263" r:id="rId12"/>
    <p:sldId id="264" r:id="rId13"/>
    <p:sldId id="266" r:id="rId14"/>
    <p:sldId id="273" r:id="rId15"/>
  </p:sldIdLst>
  <p:sldSz cx="12192000" cy="6858000"/>
  <p:notesSz cx="6858000" cy="9144000"/>
  <p:embeddedFontLst>
    <p:embeddedFont>
      <p:font typeface="맑은 고딕" panose="020B0503020000020004" pitchFamily="50" charset="-127"/>
      <p:regular r:id="rId16"/>
      <p:bold r:id="rId17"/>
    </p:embeddedFont>
    <p:embeddedFont>
      <p:font typeface="배달의민족 주아" panose="020B0600000101010101" charset="-127"/>
      <p:regular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B4BB"/>
    <a:srgbClr val="FED2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03447BB-5D67-496B-8E87-E561075AD55C}" styleName="어두운 스타일 1 - 강조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8" autoAdjust="0"/>
    <p:restoredTop sz="94660"/>
  </p:normalViewPr>
  <p:slideViewPr>
    <p:cSldViewPr snapToGrid="0">
      <p:cViewPr>
        <p:scale>
          <a:sx n="100" d="100"/>
          <a:sy n="100" d="100"/>
        </p:scale>
        <p:origin x="76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8EE1BB-1AB0-4CAB-BC46-ACBEA6945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833923-9D71-4007-B9E5-CCF8889A6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9032D3-D59E-4BD2-8024-3B1E620B0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F81F3A-DBD4-488F-85BE-71BE427DD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3C865D-B678-4A46-B270-6E31F0031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579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685BD3-0BD3-4A12-8CA0-1B3620B0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561871-AEA1-4DB1-AB7C-FEABD6784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7BD559-2B98-40A4-BD6F-23CB9BFE6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509546-6E1F-4A73-8F71-C426B185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FD44FE-2A1D-4E6D-8377-0C165935E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885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3C4EA-D5A3-4E3A-AF01-FF7BBD216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56E237-DB5E-4997-ADB7-25D24DB06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E28B30-242E-4490-90FE-0A8DC16CA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AD445D-F3AE-44DC-B872-4DD590450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0258F2-257D-46F0-85F9-FC2A3F5B7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957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8C016-7814-4034-8921-894CAD4D5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1B9F9F-6970-4BC6-B3BB-6470A5603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CB23C4-74E5-4FF3-9BC3-2D01ADDEC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F4E4C5-F04B-4198-B05D-DF910C5DD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E8F8D2-F375-486A-8244-786443D74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E8093D-BFD8-40A2-A1C6-A2CAAF9FE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190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A5B7E0-8261-4F9F-AC5E-53549B9CE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3E87AC-CB27-4BFE-9E76-DD4060AF1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11B5ED-D43E-40F0-9709-4E124E063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6D1371-B8D6-46B7-B71D-BDFCFBA8D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D56254-F4B1-4F4F-87B2-65D4E76EE2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D021FF2-B2B5-4309-86D5-8739860D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645FEF-1750-4088-B68F-D87D8B722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8C28ED0-042D-43FB-96DD-CEABA7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454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DFDA7C-1426-44E8-819B-812C8B331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CE48AE4-76AB-4EAF-83A5-0F583D38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027DBE-00B0-452F-8F5C-062A73F3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FA5254-D3A6-4615-8913-3EF524794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117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326E3F-566C-47F2-B7AB-DF71498F7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A5E98AB-EC9D-405C-AB72-840AC2853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7B5D1B-3AA2-4083-8A52-C1DD6D49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760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C08EA6-6C44-4146-81EF-857847434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E31D01-C2CF-4192-9DF1-78BE59FD7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CA5B8A-469F-47A4-939A-1D2B6F6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01E3D0-AC28-4C41-9757-A93BCF8FA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CC8CC7-C8E5-4318-BEF9-AF1B0AD80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1182BE-74E3-4DFD-8509-B278050B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157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4B1863-156E-4A64-AA91-E6D896BD3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12463E1-123D-4412-ABB5-6C46D05CA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7A6993-4F72-4036-9640-700D8D40B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0DE2DA-A455-4003-8C0E-CA02DD932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EB5773-9833-4C23-ACE7-4EA3C267E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E4E24B-5FFB-492F-8DC8-7CD4BFAC4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549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5D4F06-AA64-4911-9AE3-99626BDBA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EC1A3B-70F8-4798-9642-223F6261C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A5AA77-D096-4890-A3B8-8FCA60FC3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8AAA2E-6FF4-4A72-8C85-FB7A7EDB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76111F-40FC-4837-9918-FA7F2369D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077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0622C86-B0A8-43D2-867E-AFB9F2272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F1CD4E-6E37-45DF-ACC5-6B5A7D9E6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160EEF-B847-4621-8FA4-B2520DA01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CCA5-B419-40F7-9858-26EF65B7F76B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DDA2A6-B03C-4160-816E-BB339FBBF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323868-F5ED-4549-8CA2-C1E03F9D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504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rgbClr val="FED2D6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A4732F-8D59-49C7-B9AA-71309D47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862AAA-5234-470F-B69D-4137E4023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A14D78-B0FB-484A-94E5-66E8351EC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1CCA5-B419-40F7-9858-26EF65B7F76B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C8D3EA-58D0-4742-BE53-13CC5F9A7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5CF98C-56F2-4BC2-9FAC-C66457A58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32420-85A7-4E94-9694-174430EFD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802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rgbClr val="FED2D6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루피짤 (@MkpJXUDKjsJ7AHu) | Twitter">
            <a:extLst>
              <a:ext uri="{FF2B5EF4-FFF2-40B4-BE49-F238E27FC236}">
                <a16:creationId xmlns:a16="http://schemas.microsoft.com/office/drawing/2014/main" id="{0CB93B1A-6E82-42FF-9621-68A78AB03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56" b="99444" l="10000" r="90000">
                        <a14:foregroundMark x1="32222" y1="90556" x2="34167" y2="91111"/>
                        <a14:foregroundMark x1="45278" y1="90556" x2="51667" y2="94444"/>
                        <a14:foregroundMark x1="28056" y1="96389" x2="38889" y2="99722"/>
                        <a14:foregroundMark x1="58611" y1="5556" x2="58611" y2="5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349796"/>
            <a:ext cx="4508204" cy="4508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567818F8-EC11-4A3B-97BF-8802492479FC}"/>
              </a:ext>
            </a:extLst>
          </p:cNvPr>
          <p:cNvGrpSpPr/>
          <p:nvPr/>
        </p:nvGrpSpPr>
        <p:grpSpPr>
          <a:xfrm>
            <a:off x="4378431" y="641719"/>
            <a:ext cx="7459038" cy="2869474"/>
            <a:chOff x="4378431" y="641719"/>
            <a:chExt cx="7459038" cy="2869474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6B77C87A-B5BC-4E75-88A6-C349778102D0}"/>
                </a:ext>
              </a:extLst>
            </p:cNvPr>
            <p:cNvSpPr/>
            <p:nvPr/>
          </p:nvSpPr>
          <p:spPr>
            <a:xfrm>
              <a:off x="4378431" y="641719"/>
              <a:ext cx="7459038" cy="2869474"/>
            </a:xfrm>
            <a:custGeom>
              <a:avLst/>
              <a:gdLst>
                <a:gd name="csX0" fmla="*/ 0 w 7459038"/>
                <a:gd name="csY0" fmla="*/ 1434737 h 2869474"/>
                <a:gd name="csX1" fmla="*/ 3729519 w 7459038"/>
                <a:gd name="csY1" fmla="*/ 0 h 2869474"/>
                <a:gd name="csX2" fmla="*/ 7459038 w 7459038"/>
                <a:gd name="csY2" fmla="*/ 1434737 h 2869474"/>
                <a:gd name="csX3" fmla="*/ 3729519 w 7459038"/>
                <a:gd name="csY3" fmla="*/ 2869474 h 2869474"/>
                <a:gd name="csX4" fmla="*/ 0 w 7459038"/>
                <a:gd name="csY4" fmla="*/ 1434737 h 28694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459038" h="2869474" fill="none" extrusionOk="0">
                  <a:moveTo>
                    <a:pt x="0" y="1434737"/>
                  </a:moveTo>
                  <a:cubicBezTo>
                    <a:pt x="-129925" y="520143"/>
                    <a:pt x="1571699" y="-194433"/>
                    <a:pt x="3729519" y="0"/>
                  </a:cubicBezTo>
                  <a:cubicBezTo>
                    <a:pt x="5816794" y="33759"/>
                    <a:pt x="7482353" y="658459"/>
                    <a:pt x="7459038" y="1434737"/>
                  </a:cubicBezTo>
                  <a:cubicBezTo>
                    <a:pt x="7480854" y="2061176"/>
                    <a:pt x="5705213" y="2799588"/>
                    <a:pt x="3729519" y="2869474"/>
                  </a:cubicBezTo>
                  <a:cubicBezTo>
                    <a:pt x="1567997" y="2927183"/>
                    <a:pt x="15680" y="2270343"/>
                    <a:pt x="0" y="1434737"/>
                  </a:cubicBezTo>
                  <a:close/>
                </a:path>
                <a:path w="7459038" h="2869474" stroke="0" extrusionOk="0">
                  <a:moveTo>
                    <a:pt x="0" y="1434737"/>
                  </a:moveTo>
                  <a:cubicBezTo>
                    <a:pt x="-45566" y="714704"/>
                    <a:pt x="1705430" y="-31147"/>
                    <a:pt x="3729519" y="0"/>
                  </a:cubicBezTo>
                  <a:cubicBezTo>
                    <a:pt x="5853576" y="91572"/>
                    <a:pt x="7500206" y="611904"/>
                    <a:pt x="7459038" y="1434737"/>
                  </a:cubicBezTo>
                  <a:cubicBezTo>
                    <a:pt x="7499629" y="2023936"/>
                    <a:pt x="6058158" y="3100310"/>
                    <a:pt x="3729519" y="2869474"/>
                  </a:cubicBezTo>
                  <a:cubicBezTo>
                    <a:pt x="1659697" y="2935858"/>
                    <a:pt x="-68935" y="2159366"/>
                    <a:pt x="0" y="1434737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809068511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E162655-ADBD-4939-B2BF-FA89D86EF8FE}"/>
                </a:ext>
              </a:extLst>
            </p:cNvPr>
            <p:cNvSpPr txBox="1"/>
            <p:nvPr/>
          </p:nvSpPr>
          <p:spPr>
            <a:xfrm>
              <a:off x="4965700" y="1315483"/>
              <a:ext cx="628450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400" dirty="0"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Weekly Presentation</a:t>
              </a:r>
              <a:endParaRPr lang="ko-KR" altLang="en-US" sz="5400" dirty="0"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A5EA6B4-7F92-414C-8FE0-44EFDF90961C}"/>
                </a:ext>
              </a:extLst>
            </p:cNvPr>
            <p:cNvSpPr txBox="1"/>
            <p:nvPr/>
          </p:nvSpPr>
          <p:spPr>
            <a:xfrm>
              <a:off x="5440950" y="2385454"/>
              <a:ext cx="5334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dirty="0"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HaYoung</a:t>
              </a:r>
              <a:r>
                <a:rPr lang="ko-KR" altLang="en-US" sz="2800" dirty="0"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 </a:t>
              </a:r>
              <a:r>
                <a:rPr lang="en-US" altLang="ko-KR" sz="2800" dirty="0">
                  <a:latin typeface="배달의민족 주아" panose="02020603020101020101" pitchFamily="18" charset="-127"/>
                  <a:ea typeface="배달의민족 주아" panose="02020603020101020101" pitchFamily="18" charset="-127"/>
                </a:rPr>
                <a:t>Lee</a:t>
              </a:r>
              <a:endParaRPr lang="ko-KR" altLang="en-US" sz="2800" dirty="0">
                <a:latin typeface="배달의민족 주아" panose="02020603020101020101" pitchFamily="18" charset="-127"/>
                <a:ea typeface="배달의민족 주아" panose="02020603020101020101" pitchFamily="18" charset="-127"/>
              </a:endParaRPr>
            </a:p>
          </p:txBody>
        </p:sp>
      </p:grpSp>
      <p:sp>
        <p:nvSpPr>
          <p:cNvPr id="10" name="타원 9">
            <a:extLst>
              <a:ext uri="{FF2B5EF4-FFF2-40B4-BE49-F238E27FC236}">
                <a16:creationId xmlns:a16="http://schemas.microsoft.com/office/drawing/2014/main" id="{085D3236-6C1A-4662-82A4-CDEEEDA7B73A}"/>
              </a:ext>
            </a:extLst>
          </p:cNvPr>
          <p:cNvSpPr/>
          <p:nvPr/>
        </p:nvSpPr>
        <p:spPr>
          <a:xfrm>
            <a:off x="4443318" y="4221332"/>
            <a:ext cx="129774" cy="154726"/>
          </a:xfrm>
          <a:custGeom>
            <a:avLst/>
            <a:gdLst>
              <a:gd name="csX0" fmla="*/ 0 w 129774"/>
              <a:gd name="csY0" fmla="*/ 77363 h 154726"/>
              <a:gd name="csX1" fmla="*/ 64887 w 129774"/>
              <a:gd name="csY1" fmla="*/ 0 h 154726"/>
              <a:gd name="csX2" fmla="*/ 129774 w 129774"/>
              <a:gd name="csY2" fmla="*/ 77363 h 154726"/>
              <a:gd name="csX3" fmla="*/ 64887 w 129774"/>
              <a:gd name="csY3" fmla="*/ 154726 h 154726"/>
              <a:gd name="csX4" fmla="*/ 0 w 129774"/>
              <a:gd name="csY4" fmla="*/ 77363 h 1547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9774" h="154726" fill="none" extrusionOk="0">
                <a:moveTo>
                  <a:pt x="0" y="77363"/>
                </a:moveTo>
                <a:cubicBezTo>
                  <a:pt x="-1528" y="33200"/>
                  <a:pt x="26204" y="-5644"/>
                  <a:pt x="64887" y="0"/>
                </a:cubicBezTo>
                <a:cubicBezTo>
                  <a:pt x="104167" y="4225"/>
                  <a:pt x="133128" y="36954"/>
                  <a:pt x="129774" y="77363"/>
                </a:cubicBezTo>
                <a:cubicBezTo>
                  <a:pt x="130100" y="117610"/>
                  <a:pt x="100380" y="154441"/>
                  <a:pt x="64887" y="154726"/>
                </a:cubicBezTo>
                <a:cubicBezTo>
                  <a:pt x="22037" y="158703"/>
                  <a:pt x="983" y="122799"/>
                  <a:pt x="0" y="77363"/>
                </a:cubicBezTo>
                <a:close/>
              </a:path>
              <a:path w="129774" h="154726" stroke="0" extrusionOk="0">
                <a:moveTo>
                  <a:pt x="0" y="77363"/>
                </a:moveTo>
                <a:cubicBezTo>
                  <a:pt x="-1587" y="37157"/>
                  <a:pt x="31436" y="-2083"/>
                  <a:pt x="64887" y="0"/>
                </a:cubicBezTo>
                <a:cubicBezTo>
                  <a:pt x="103411" y="3828"/>
                  <a:pt x="135021" y="30756"/>
                  <a:pt x="129774" y="77363"/>
                </a:cubicBezTo>
                <a:cubicBezTo>
                  <a:pt x="130672" y="115595"/>
                  <a:pt x="102158" y="155958"/>
                  <a:pt x="64887" y="154726"/>
                </a:cubicBezTo>
                <a:cubicBezTo>
                  <a:pt x="28806" y="156344"/>
                  <a:pt x="-4458" y="115708"/>
                  <a:pt x="0" y="77363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3809068511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63958CB-7D20-4D36-8C00-837BF67D8434}"/>
              </a:ext>
            </a:extLst>
          </p:cNvPr>
          <p:cNvSpPr/>
          <p:nvPr/>
        </p:nvSpPr>
        <p:spPr>
          <a:xfrm>
            <a:off x="4884577" y="3965050"/>
            <a:ext cx="180000" cy="180000"/>
          </a:xfrm>
          <a:custGeom>
            <a:avLst/>
            <a:gdLst>
              <a:gd name="csX0" fmla="*/ 0 w 180000"/>
              <a:gd name="csY0" fmla="*/ 90000 h 180000"/>
              <a:gd name="csX1" fmla="*/ 90000 w 180000"/>
              <a:gd name="csY1" fmla="*/ 0 h 180000"/>
              <a:gd name="csX2" fmla="*/ 180000 w 180000"/>
              <a:gd name="csY2" fmla="*/ 90000 h 180000"/>
              <a:gd name="csX3" fmla="*/ 90000 w 180000"/>
              <a:gd name="csY3" fmla="*/ 180000 h 180000"/>
              <a:gd name="csX4" fmla="*/ 0 w 180000"/>
              <a:gd name="csY4" fmla="*/ 90000 h 18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0000" h="180000" fill="none" extrusionOk="0">
                <a:moveTo>
                  <a:pt x="0" y="90000"/>
                </a:moveTo>
                <a:cubicBezTo>
                  <a:pt x="-2693" y="37760"/>
                  <a:pt x="38068" y="-4413"/>
                  <a:pt x="90000" y="0"/>
                </a:cubicBezTo>
                <a:cubicBezTo>
                  <a:pt x="145412" y="6999"/>
                  <a:pt x="182482" y="42008"/>
                  <a:pt x="180000" y="90000"/>
                </a:cubicBezTo>
                <a:cubicBezTo>
                  <a:pt x="180856" y="133195"/>
                  <a:pt x="132418" y="173941"/>
                  <a:pt x="90000" y="180000"/>
                </a:cubicBezTo>
                <a:cubicBezTo>
                  <a:pt x="32413" y="184469"/>
                  <a:pt x="2376" y="146255"/>
                  <a:pt x="0" y="90000"/>
                </a:cubicBezTo>
                <a:close/>
              </a:path>
              <a:path w="180000" h="180000" stroke="0" extrusionOk="0">
                <a:moveTo>
                  <a:pt x="0" y="90000"/>
                </a:moveTo>
                <a:cubicBezTo>
                  <a:pt x="-2310" y="43961"/>
                  <a:pt x="42921" y="-2294"/>
                  <a:pt x="90000" y="0"/>
                </a:cubicBezTo>
                <a:cubicBezTo>
                  <a:pt x="141357" y="2351"/>
                  <a:pt x="186443" y="35528"/>
                  <a:pt x="180000" y="90000"/>
                </a:cubicBezTo>
                <a:cubicBezTo>
                  <a:pt x="180273" y="138337"/>
                  <a:pt x="142719" y="182586"/>
                  <a:pt x="90000" y="180000"/>
                </a:cubicBezTo>
                <a:cubicBezTo>
                  <a:pt x="38884" y="189299"/>
                  <a:pt x="-5924" y="133884"/>
                  <a:pt x="0" y="9000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3809068511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1C41EF2-56D1-4669-A8D8-1708AFF4B601}"/>
              </a:ext>
            </a:extLst>
          </p:cNvPr>
          <p:cNvSpPr/>
          <p:nvPr/>
        </p:nvSpPr>
        <p:spPr>
          <a:xfrm>
            <a:off x="5161777" y="3511193"/>
            <a:ext cx="279173" cy="253300"/>
          </a:xfrm>
          <a:custGeom>
            <a:avLst/>
            <a:gdLst>
              <a:gd name="csX0" fmla="*/ 0 w 279173"/>
              <a:gd name="csY0" fmla="*/ 126650 h 253300"/>
              <a:gd name="csX1" fmla="*/ 139587 w 279173"/>
              <a:gd name="csY1" fmla="*/ 0 h 253300"/>
              <a:gd name="csX2" fmla="*/ 279174 w 279173"/>
              <a:gd name="csY2" fmla="*/ 126650 h 253300"/>
              <a:gd name="csX3" fmla="*/ 139587 w 279173"/>
              <a:gd name="csY3" fmla="*/ 253300 h 253300"/>
              <a:gd name="csX4" fmla="*/ 0 w 279173"/>
              <a:gd name="csY4" fmla="*/ 126650 h 253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9173" h="253300" fill="none" extrusionOk="0">
                <a:moveTo>
                  <a:pt x="0" y="126650"/>
                </a:moveTo>
                <a:cubicBezTo>
                  <a:pt x="-6415" y="50668"/>
                  <a:pt x="59438" y="-6061"/>
                  <a:pt x="139587" y="0"/>
                </a:cubicBezTo>
                <a:cubicBezTo>
                  <a:pt x="222985" y="7735"/>
                  <a:pt x="281523" y="58326"/>
                  <a:pt x="279174" y="126650"/>
                </a:cubicBezTo>
                <a:cubicBezTo>
                  <a:pt x="280342" y="187714"/>
                  <a:pt x="210792" y="248406"/>
                  <a:pt x="139587" y="253300"/>
                </a:cubicBezTo>
                <a:cubicBezTo>
                  <a:pt x="53044" y="258660"/>
                  <a:pt x="3961" y="207515"/>
                  <a:pt x="0" y="126650"/>
                </a:cubicBezTo>
                <a:close/>
              </a:path>
              <a:path w="279173" h="253300" stroke="0" extrusionOk="0">
                <a:moveTo>
                  <a:pt x="0" y="126650"/>
                </a:moveTo>
                <a:cubicBezTo>
                  <a:pt x="-3704" y="62584"/>
                  <a:pt x="63317" y="-718"/>
                  <a:pt x="139587" y="0"/>
                </a:cubicBezTo>
                <a:cubicBezTo>
                  <a:pt x="224001" y="10428"/>
                  <a:pt x="281402" y="55055"/>
                  <a:pt x="279174" y="126650"/>
                </a:cubicBezTo>
                <a:cubicBezTo>
                  <a:pt x="280423" y="190345"/>
                  <a:pt x="226063" y="261357"/>
                  <a:pt x="139587" y="253300"/>
                </a:cubicBezTo>
                <a:cubicBezTo>
                  <a:pt x="61686" y="258637"/>
                  <a:pt x="-6502" y="190206"/>
                  <a:pt x="0" y="12665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3809068511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1575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721B3-D253-8178-B10E-A835C8BF6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C1FAC56-626F-6487-3F5E-0173798BD4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58" b="97104" l="10000" r="90000">
                        <a14:foregroundMark x1="50000" y1="8687" x2="53000" y2="16023"/>
                        <a14:foregroundMark x1="87250" y1="21815" x2="60750" y2="30309"/>
                        <a14:foregroundMark x1="87000" y1="18919" x2="87750" y2="23166"/>
                        <a14:foregroundMark x1="87750" y1="18340" x2="87000" y2="18340"/>
                        <a14:foregroundMark x1="89250" y1="19305" x2="89500" y2="19884"/>
                        <a14:foregroundMark x1="50250" y1="1544" x2="50250" y2="1544"/>
                        <a14:foregroundMark x1="52250" y1="3282" x2="53500" y2="4440"/>
                        <a14:foregroundMark x1="50500" y1="90154" x2="50500" y2="65830"/>
                        <a14:foregroundMark x1="45500" y1="97104" x2="49000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837"/>
          <a:stretch/>
        </p:blipFill>
        <p:spPr bwMode="auto">
          <a:xfrm>
            <a:off x="10930271" y="3885810"/>
            <a:ext cx="1293628" cy="25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BE41D5-80E1-7222-838B-1EC58A578F28}"/>
              </a:ext>
            </a:extLst>
          </p:cNvPr>
          <p:cNvSpPr txBox="1"/>
          <p:nvPr/>
        </p:nvSpPr>
        <p:spPr>
          <a:xfrm>
            <a:off x="295350" y="283185"/>
            <a:ext cx="9324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Our Topic</a:t>
            </a:r>
            <a:endParaRPr lang="ko-KR" altLang="en-US" sz="4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3" name="사각형: 잘린 한쪽 모서리 2">
            <a:extLst>
              <a:ext uri="{FF2B5EF4-FFF2-40B4-BE49-F238E27FC236}">
                <a16:creationId xmlns:a16="http://schemas.microsoft.com/office/drawing/2014/main" id="{F4BAAD82-0A46-B4D9-ACFE-373D2B66DFE9}"/>
              </a:ext>
            </a:extLst>
          </p:cNvPr>
          <p:cNvSpPr/>
          <p:nvPr/>
        </p:nvSpPr>
        <p:spPr>
          <a:xfrm>
            <a:off x="654493" y="1246372"/>
            <a:ext cx="10243879" cy="5179587"/>
          </a:xfrm>
          <a:prstGeom prst="snip1Rect">
            <a:avLst/>
          </a:prstGeom>
          <a:solidFill>
            <a:schemeClr val="bg1"/>
          </a:solidFill>
          <a:ln w="76200">
            <a:solidFill>
              <a:srgbClr val="D02F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ko-KR" altLang="en-US" sz="2800" dirty="0">
                <a:solidFill>
                  <a:schemeClr val="tx1"/>
                </a:solidFill>
              </a:rPr>
              <a:t>사용 시간이 제한적인 점심</a:t>
            </a:r>
            <a:r>
              <a:rPr lang="en-US" altLang="ko-KR" sz="2800" dirty="0">
                <a:solidFill>
                  <a:schemeClr val="tx1"/>
                </a:solidFill>
              </a:rPr>
              <a:t> </a:t>
            </a:r>
            <a:r>
              <a:rPr lang="ko-KR" altLang="en-US" sz="2800" dirty="0" err="1">
                <a:solidFill>
                  <a:schemeClr val="tx1"/>
                </a:solidFill>
              </a:rPr>
              <a:t>룰렛</a:t>
            </a:r>
            <a:r>
              <a:rPr lang="en-US" altLang="ko-KR" sz="2800" dirty="0">
                <a:solidFill>
                  <a:schemeClr val="tx1"/>
                </a:solidFill>
              </a:rPr>
              <a:t> </a:t>
            </a:r>
            <a:r>
              <a:rPr lang="ko-KR" altLang="en-US" sz="2800" dirty="0">
                <a:solidFill>
                  <a:schemeClr val="tx1"/>
                </a:solidFill>
              </a:rPr>
              <a:t>서비스의 특성을 반영해 </a:t>
            </a:r>
            <a:endParaRPr lang="en-US" altLang="ko-KR" sz="2800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ko-KR" altLang="en-US" sz="2800" dirty="0">
                <a:solidFill>
                  <a:schemeClr val="tx1"/>
                </a:solidFill>
              </a:rPr>
              <a:t>서버를 점심 시간</a:t>
            </a:r>
            <a:r>
              <a:rPr lang="en-US" altLang="ko-KR" sz="2800" dirty="0">
                <a:solidFill>
                  <a:schemeClr val="tx1"/>
                </a:solidFill>
              </a:rPr>
              <a:t>(10</a:t>
            </a:r>
            <a:r>
              <a:rPr lang="ko-KR" altLang="en-US" sz="2800" dirty="0">
                <a:solidFill>
                  <a:schemeClr val="tx1"/>
                </a:solidFill>
              </a:rPr>
              <a:t>시</a:t>
            </a:r>
            <a:r>
              <a:rPr lang="en-US" altLang="ko-KR" sz="2800" dirty="0">
                <a:solidFill>
                  <a:schemeClr val="tx1"/>
                </a:solidFill>
              </a:rPr>
              <a:t>-14</a:t>
            </a:r>
            <a:r>
              <a:rPr lang="ko-KR" altLang="en-US" sz="2800" dirty="0">
                <a:solidFill>
                  <a:schemeClr val="tx1"/>
                </a:solidFill>
              </a:rPr>
              <a:t>시</a:t>
            </a:r>
            <a:r>
              <a:rPr lang="en-US" altLang="ko-KR" sz="2800" dirty="0">
                <a:solidFill>
                  <a:schemeClr val="tx1"/>
                </a:solidFill>
              </a:rPr>
              <a:t>)</a:t>
            </a:r>
            <a:r>
              <a:rPr lang="ko-KR" altLang="en-US" sz="2800" dirty="0">
                <a:solidFill>
                  <a:schemeClr val="tx1"/>
                </a:solidFill>
              </a:rPr>
              <a:t>에만 자동 제어하여 비용을 </a:t>
            </a:r>
            <a:br>
              <a:rPr lang="en-US" altLang="ko-KR" sz="2800" dirty="0">
                <a:solidFill>
                  <a:schemeClr val="tx1"/>
                </a:solidFill>
              </a:rPr>
            </a:br>
            <a:r>
              <a:rPr lang="ko-KR" altLang="en-US" sz="2800" dirty="0">
                <a:solidFill>
                  <a:schemeClr val="tx1"/>
                </a:solidFill>
              </a:rPr>
              <a:t>절감한다</a:t>
            </a:r>
            <a:r>
              <a:rPr lang="en-US" altLang="ko-KR" sz="2800" dirty="0">
                <a:solidFill>
                  <a:schemeClr val="tx1"/>
                </a:solidFill>
              </a:rPr>
              <a:t>.</a:t>
            </a:r>
            <a:br>
              <a:rPr lang="en-US" altLang="ko-KR" sz="2800" dirty="0">
                <a:solidFill>
                  <a:schemeClr val="tx1"/>
                </a:solidFill>
              </a:rPr>
            </a:br>
            <a:r>
              <a:rPr lang="en-US" altLang="ko-KR" sz="2800" dirty="0">
                <a:solidFill>
                  <a:schemeClr val="tx1"/>
                </a:solidFill>
              </a:rPr>
              <a:t>Terraform</a:t>
            </a:r>
            <a:r>
              <a:rPr lang="ko-KR" altLang="en-US" sz="2800" dirty="0">
                <a:solidFill>
                  <a:schemeClr val="tx1"/>
                </a:solidFill>
              </a:rPr>
              <a:t>과 </a:t>
            </a:r>
            <a:r>
              <a:rPr lang="en-US" altLang="ko-KR" sz="2800" dirty="0">
                <a:solidFill>
                  <a:schemeClr val="tx1"/>
                </a:solidFill>
              </a:rPr>
              <a:t>Ansible </a:t>
            </a:r>
            <a:r>
              <a:rPr lang="ko-KR" altLang="en-US" sz="2800" dirty="0">
                <a:solidFill>
                  <a:schemeClr val="tx1"/>
                </a:solidFill>
              </a:rPr>
              <a:t>기반 자동화를 통해 서버 생성</a:t>
            </a:r>
            <a:r>
              <a:rPr lang="en-US" altLang="ko-KR" sz="2800" dirty="0">
                <a:solidFill>
                  <a:schemeClr val="tx1"/>
                </a:solidFill>
              </a:rPr>
              <a:t>, </a:t>
            </a:r>
            <a:r>
              <a:rPr lang="ko-KR" altLang="en-US" sz="2800" dirty="0">
                <a:solidFill>
                  <a:schemeClr val="tx1"/>
                </a:solidFill>
              </a:rPr>
              <a:t>배포</a:t>
            </a:r>
            <a:r>
              <a:rPr lang="en-US" altLang="ko-KR" sz="2800" dirty="0">
                <a:solidFill>
                  <a:schemeClr val="tx1"/>
                </a:solidFill>
              </a:rPr>
              <a:t>, </a:t>
            </a:r>
            <a:br>
              <a:rPr lang="en-US" altLang="ko-KR" sz="2800" dirty="0">
                <a:solidFill>
                  <a:schemeClr val="tx1"/>
                </a:solidFill>
              </a:rPr>
            </a:br>
            <a:r>
              <a:rPr lang="ko-KR" altLang="en-US" sz="2800" dirty="0">
                <a:solidFill>
                  <a:schemeClr val="tx1"/>
                </a:solidFill>
              </a:rPr>
              <a:t>장애 복구를 일원화하고</a:t>
            </a:r>
            <a:r>
              <a:rPr lang="en-US" altLang="ko-KR" sz="2800" dirty="0">
                <a:solidFill>
                  <a:schemeClr val="tx1"/>
                </a:solidFill>
              </a:rPr>
              <a:t>,</a:t>
            </a:r>
            <a:r>
              <a:rPr lang="ko-KR" altLang="en-US" sz="2800" dirty="0">
                <a:solidFill>
                  <a:schemeClr val="tx1"/>
                </a:solidFill>
              </a:rPr>
              <a:t>모니터링을 통해 과도한 리소스 </a:t>
            </a:r>
            <a:br>
              <a:rPr lang="en-US" altLang="ko-KR" sz="2800" dirty="0">
                <a:solidFill>
                  <a:schemeClr val="tx1"/>
                </a:solidFill>
              </a:rPr>
            </a:br>
            <a:r>
              <a:rPr lang="ko-KR" altLang="en-US" sz="2800" dirty="0">
                <a:solidFill>
                  <a:schemeClr val="tx1"/>
                </a:solidFill>
              </a:rPr>
              <a:t>사용을 분석하여 운영 효율을 높였다</a:t>
            </a:r>
            <a:r>
              <a:rPr lang="en-US" altLang="ko-KR" sz="2800" dirty="0">
                <a:solidFill>
                  <a:schemeClr val="tx1"/>
                </a:solidFill>
              </a:rPr>
              <a:t>(</a:t>
            </a:r>
            <a:r>
              <a:rPr lang="ko-KR" altLang="en-US" sz="2800" dirty="0">
                <a:solidFill>
                  <a:schemeClr val="tx1"/>
                </a:solidFill>
              </a:rPr>
              <a:t>비용 최적화</a:t>
            </a:r>
            <a:r>
              <a:rPr lang="en-US" altLang="ko-KR" sz="2800" dirty="0">
                <a:solidFill>
                  <a:schemeClr val="tx1"/>
                </a:solidFill>
              </a:rPr>
              <a:t>).</a:t>
            </a:r>
            <a:r>
              <a:rPr lang="ko-KR" altLang="en-US" sz="2800" dirty="0">
                <a:solidFill>
                  <a:schemeClr val="tx1"/>
                </a:solidFill>
              </a:rPr>
              <a:t> </a:t>
            </a:r>
            <a:endParaRPr lang="en-US" altLang="ko-KR" sz="2800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endParaRPr lang="en-US" altLang="ko-KR" sz="28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ko-KR" sz="2800" dirty="0">
                <a:solidFill>
                  <a:schemeClr val="tx1"/>
                </a:solidFill>
              </a:rPr>
              <a:t>장애대응 시간 감소</a:t>
            </a:r>
            <a:r>
              <a:rPr lang="en-US" altLang="ko-KR" sz="2800" dirty="0">
                <a:solidFill>
                  <a:schemeClr val="tx1"/>
                </a:solidFill>
              </a:rPr>
              <a:t>-&gt; </a:t>
            </a:r>
            <a:r>
              <a:rPr lang="ko-KR" altLang="ko-KR" sz="2800" dirty="0">
                <a:solidFill>
                  <a:schemeClr val="tx1"/>
                </a:solidFill>
              </a:rPr>
              <a:t>인력 비용 절감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ko-KR" sz="2800" dirty="0">
                <a:solidFill>
                  <a:schemeClr val="tx1"/>
                </a:solidFill>
              </a:rPr>
              <a:t>반복 작업 제거</a:t>
            </a:r>
            <a:r>
              <a:rPr lang="en-US" altLang="ko-KR" sz="2800" dirty="0">
                <a:solidFill>
                  <a:schemeClr val="tx1"/>
                </a:solidFill>
              </a:rPr>
              <a:t> -&gt; </a:t>
            </a:r>
            <a:r>
              <a:rPr lang="ko-KR" altLang="ko-KR" sz="2800" dirty="0">
                <a:solidFill>
                  <a:schemeClr val="tx1"/>
                </a:solidFill>
              </a:rPr>
              <a:t>운영 비용 감소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ko-KR" sz="2800" dirty="0">
                <a:solidFill>
                  <a:schemeClr val="tx1"/>
                </a:solidFill>
              </a:rPr>
              <a:t>모니터링으로 과도한 리소스 사용 식별</a:t>
            </a:r>
          </a:p>
          <a:p>
            <a:pPr>
              <a:spcAft>
                <a:spcPts val="300"/>
              </a:spcAft>
            </a:pPr>
            <a:endParaRPr lang="ko-KR" altLang="en-US" sz="3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222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729F1-9509-234F-7795-4921303CF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2471C0AF-F8A7-FBD2-7E46-E039CE93F8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58" b="97104" l="10000" r="90000">
                        <a14:foregroundMark x1="50000" y1="8687" x2="53000" y2="16023"/>
                        <a14:foregroundMark x1="87250" y1="21815" x2="60750" y2="30309"/>
                        <a14:foregroundMark x1="87000" y1="18919" x2="87750" y2="23166"/>
                        <a14:foregroundMark x1="87750" y1="18340" x2="87000" y2="18340"/>
                        <a14:foregroundMark x1="89250" y1="19305" x2="89500" y2="19884"/>
                        <a14:foregroundMark x1="50250" y1="1544" x2="50250" y2="1544"/>
                        <a14:foregroundMark x1="52250" y1="3282" x2="53500" y2="4440"/>
                        <a14:foregroundMark x1="50500" y1="90154" x2="50500" y2="65830"/>
                        <a14:foregroundMark x1="45500" y1="97104" x2="49000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837"/>
          <a:stretch/>
        </p:blipFill>
        <p:spPr bwMode="auto">
          <a:xfrm>
            <a:off x="10930271" y="3885810"/>
            <a:ext cx="1293628" cy="25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23C7D3-64E5-E5EE-AB41-0F25FF80E17D}"/>
              </a:ext>
            </a:extLst>
          </p:cNvPr>
          <p:cNvSpPr txBox="1"/>
          <p:nvPr/>
        </p:nvSpPr>
        <p:spPr>
          <a:xfrm>
            <a:off x="295350" y="283185"/>
            <a:ext cx="9324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0-1.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Infra Team</a:t>
            </a:r>
            <a:endParaRPr lang="ko-KR" altLang="en-US" sz="4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3" name="사각형: 잘린 한쪽 모서리 2">
            <a:extLst>
              <a:ext uri="{FF2B5EF4-FFF2-40B4-BE49-F238E27FC236}">
                <a16:creationId xmlns:a16="http://schemas.microsoft.com/office/drawing/2014/main" id="{2F06E913-DF02-11AD-EF0D-206978BBA1CD}"/>
              </a:ext>
            </a:extLst>
          </p:cNvPr>
          <p:cNvSpPr/>
          <p:nvPr/>
        </p:nvSpPr>
        <p:spPr>
          <a:xfrm>
            <a:off x="654493" y="1246372"/>
            <a:ext cx="10243879" cy="5179587"/>
          </a:xfrm>
          <a:prstGeom prst="snip1Rect">
            <a:avLst/>
          </a:prstGeom>
          <a:solidFill>
            <a:schemeClr val="bg1"/>
          </a:solidFill>
          <a:ln w="76200">
            <a:solidFill>
              <a:srgbClr val="D02F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</a:rPr>
              <a:t>EC2 + </a:t>
            </a:r>
            <a:r>
              <a:rPr lang="ko-KR" altLang="ko-KR" b="1" dirty="0">
                <a:solidFill>
                  <a:schemeClr val="tx1"/>
                </a:solidFill>
              </a:rPr>
              <a:t>네트워크</a:t>
            </a:r>
            <a:endParaRPr lang="ko-KR" altLang="ko-KR" sz="28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ko-KR" dirty="0">
                <a:solidFill>
                  <a:schemeClr val="tx1"/>
                </a:solidFill>
              </a:rPr>
              <a:t>서버 생성</a:t>
            </a:r>
            <a:endParaRPr lang="ko-KR" altLang="ko-KR" sz="28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ko-KR" dirty="0">
                <a:solidFill>
                  <a:schemeClr val="tx1"/>
                </a:solidFill>
              </a:rPr>
              <a:t>보안 그룹</a:t>
            </a:r>
            <a:endParaRPr lang="ko-KR" altLang="ko-KR" sz="28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IP </a:t>
            </a:r>
            <a:r>
              <a:rPr lang="ko-KR" altLang="ko-KR" dirty="0">
                <a:solidFill>
                  <a:schemeClr val="tx1"/>
                </a:solidFill>
              </a:rPr>
              <a:t>변경 상황 제공</a:t>
            </a:r>
            <a:endParaRPr lang="ko-KR" altLang="ko-KR" sz="28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Ansible inventory </a:t>
            </a:r>
            <a:r>
              <a:rPr lang="ko-KR" altLang="ko-KR" dirty="0">
                <a:solidFill>
                  <a:schemeClr val="tx1"/>
                </a:solidFill>
              </a:rPr>
              <a:t>연계</a:t>
            </a:r>
            <a:endParaRPr lang="ko-KR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ko-KR" altLang="ko-KR" sz="2800" dirty="0">
              <a:solidFill>
                <a:schemeClr val="tx1"/>
              </a:solidFill>
            </a:endParaRPr>
          </a:p>
          <a:p>
            <a:r>
              <a:rPr lang="ko-KR" altLang="ko-KR" b="1" dirty="0">
                <a:solidFill>
                  <a:schemeClr val="tx1"/>
                </a:solidFill>
              </a:rPr>
              <a:t>핵심 포인트</a:t>
            </a:r>
            <a:endParaRPr lang="ko-KR" altLang="ko-KR" sz="2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tx1"/>
                </a:solidFill>
              </a:rPr>
              <a:t>“</a:t>
            </a:r>
            <a:r>
              <a:rPr lang="ko-KR" altLang="ko-KR" b="1" dirty="0">
                <a:solidFill>
                  <a:schemeClr val="tx1"/>
                </a:solidFill>
              </a:rPr>
              <a:t>서버가 존재하고</a:t>
            </a:r>
            <a:r>
              <a:rPr lang="en-US" altLang="ko-KR" b="1" dirty="0">
                <a:solidFill>
                  <a:schemeClr val="tx1"/>
                </a:solidFill>
              </a:rPr>
              <a:t> SSH </a:t>
            </a:r>
            <a:r>
              <a:rPr lang="ko-KR" altLang="ko-KR" b="1" dirty="0">
                <a:solidFill>
                  <a:schemeClr val="tx1"/>
                </a:solidFill>
              </a:rPr>
              <a:t>연결 가능 상태</a:t>
            </a:r>
            <a:r>
              <a:rPr lang="en-US" altLang="ko-KR" b="1" dirty="0">
                <a:solidFill>
                  <a:schemeClr val="tx1"/>
                </a:solidFill>
              </a:rPr>
              <a:t>”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ko-KR" dirty="0">
                <a:solidFill>
                  <a:schemeClr val="tx1"/>
                </a:solidFill>
              </a:rPr>
              <a:t>만드는 게 목표</a:t>
            </a:r>
            <a:endParaRPr lang="ko-KR" altLang="ko-KR" sz="2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Ansible</a:t>
            </a:r>
            <a:r>
              <a:rPr lang="ko-KR" altLang="ko-KR" dirty="0">
                <a:solidFill>
                  <a:schemeClr val="tx1"/>
                </a:solidFill>
              </a:rPr>
              <a:t>이 쓸 수 있도록</a:t>
            </a:r>
            <a:r>
              <a:rPr lang="en-US" altLang="ko-KR" dirty="0">
                <a:solidFill>
                  <a:schemeClr val="tx1"/>
                </a:solidFill>
              </a:rPr>
              <a:t> IP/</a:t>
            </a:r>
            <a:r>
              <a:rPr lang="ko-KR" altLang="ko-KR" dirty="0">
                <a:solidFill>
                  <a:schemeClr val="tx1"/>
                </a:solidFill>
              </a:rPr>
              <a:t>접근 정보 제공</a:t>
            </a:r>
            <a:endParaRPr lang="en-US" altLang="ko-KR" sz="2800" dirty="0">
              <a:solidFill>
                <a:schemeClr val="tx1"/>
              </a:solidFill>
            </a:endParaRPr>
          </a:p>
          <a:p>
            <a:endParaRPr lang="ko-KR" altLang="ko-KR" sz="2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1EFD7C-3EF9-6194-6DCF-FBF779134853}"/>
              </a:ext>
            </a:extLst>
          </p:cNvPr>
          <p:cNvSpPr txBox="1"/>
          <p:nvPr/>
        </p:nvSpPr>
        <p:spPr>
          <a:xfrm>
            <a:off x="4162877" y="2031922"/>
            <a:ext cx="5428344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b="1" dirty="0"/>
              <a:t>필수 도구</a:t>
            </a:r>
            <a:r>
              <a:rPr lang="en-US" altLang="ko-KR" b="1" dirty="0"/>
              <a:t> &amp; </a:t>
            </a:r>
            <a:r>
              <a:rPr lang="ko-KR" altLang="ko-KR" b="1" dirty="0"/>
              <a:t>개념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Terraform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ko-KR" dirty="0"/>
              <a:t>리소스 정의</a:t>
            </a:r>
            <a:r>
              <a:rPr lang="en-US" altLang="ko-KR" dirty="0"/>
              <a:t>(HCL), plan/apply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Output</a:t>
            </a:r>
            <a:r>
              <a:rPr lang="ko-KR" altLang="ko-KR" dirty="0"/>
              <a:t>으로</a:t>
            </a:r>
            <a:r>
              <a:rPr lang="en-US" altLang="ko-KR" dirty="0"/>
              <a:t> IP </a:t>
            </a:r>
            <a:r>
              <a:rPr lang="ko-KR" altLang="ko-KR" dirty="0"/>
              <a:t>뽑기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AWS </a:t>
            </a:r>
            <a:r>
              <a:rPr lang="ko-KR" altLang="ko-KR" b="1" dirty="0"/>
              <a:t>콘솔 기본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VPC, </a:t>
            </a:r>
            <a:r>
              <a:rPr lang="ko-KR" altLang="ko-KR" dirty="0"/>
              <a:t>보안그룹</a:t>
            </a:r>
            <a:r>
              <a:rPr lang="en-US" altLang="ko-KR" dirty="0"/>
              <a:t>, Key pair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EC2 </a:t>
            </a:r>
            <a:r>
              <a:rPr lang="ko-KR" altLang="ko-KR" dirty="0"/>
              <a:t>상태 확인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SSH </a:t>
            </a:r>
            <a:r>
              <a:rPr lang="ko-KR" altLang="ko-KR" b="1" dirty="0"/>
              <a:t>기본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Terraform</a:t>
            </a:r>
            <a:r>
              <a:rPr lang="ko-KR" altLang="ko-KR" dirty="0"/>
              <a:t>으로 만든 서버에 연결 테스트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Git (</a:t>
            </a:r>
            <a:r>
              <a:rPr lang="ko-KR" altLang="ko-KR" b="1" dirty="0"/>
              <a:t>선택적</a:t>
            </a:r>
            <a:r>
              <a:rPr lang="en-US" altLang="ko-KR" b="1" dirty="0"/>
              <a:t>)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Terraform </a:t>
            </a:r>
            <a:r>
              <a:rPr lang="ko-KR" altLang="ko-KR" dirty="0"/>
              <a:t>코드 버전 관리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0012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3DB59-2489-B2A4-518F-C25F4851F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0CBC13C-88E1-7FE3-27E5-79BFD48716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58" b="97104" l="10000" r="90000">
                        <a14:foregroundMark x1="50000" y1="8687" x2="53000" y2="16023"/>
                        <a14:foregroundMark x1="87250" y1="21815" x2="60750" y2="30309"/>
                        <a14:foregroundMark x1="87000" y1="18919" x2="87750" y2="23166"/>
                        <a14:foregroundMark x1="87750" y1="18340" x2="87000" y2="18340"/>
                        <a14:foregroundMark x1="89250" y1="19305" x2="89500" y2="19884"/>
                        <a14:foregroundMark x1="50250" y1="1544" x2="50250" y2="1544"/>
                        <a14:foregroundMark x1="52250" y1="3282" x2="53500" y2="4440"/>
                        <a14:foregroundMark x1="50500" y1="90154" x2="50500" y2="65830"/>
                        <a14:foregroundMark x1="45500" y1="97104" x2="49000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837"/>
          <a:stretch/>
        </p:blipFill>
        <p:spPr bwMode="auto">
          <a:xfrm>
            <a:off x="10930271" y="3885810"/>
            <a:ext cx="1293628" cy="25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963A7E-E15C-9DC6-EE0F-4C34DD0AB82C}"/>
              </a:ext>
            </a:extLst>
          </p:cNvPr>
          <p:cNvSpPr txBox="1"/>
          <p:nvPr/>
        </p:nvSpPr>
        <p:spPr>
          <a:xfrm>
            <a:off x="295350" y="283185"/>
            <a:ext cx="9324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0-2.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Server Automation Team</a:t>
            </a:r>
            <a:endParaRPr lang="ko-KR" altLang="en-US" sz="4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3" name="사각형: 잘린 한쪽 모서리 2">
            <a:extLst>
              <a:ext uri="{FF2B5EF4-FFF2-40B4-BE49-F238E27FC236}">
                <a16:creationId xmlns:a16="http://schemas.microsoft.com/office/drawing/2014/main" id="{91A8B3BA-0D18-C75C-EC6F-9B607D0559BE}"/>
              </a:ext>
            </a:extLst>
          </p:cNvPr>
          <p:cNvSpPr/>
          <p:nvPr/>
        </p:nvSpPr>
        <p:spPr>
          <a:xfrm>
            <a:off x="654493" y="1246372"/>
            <a:ext cx="10243879" cy="5179587"/>
          </a:xfrm>
          <a:prstGeom prst="snip1Rect">
            <a:avLst/>
          </a:prstGeom>
          <a:solidFill>
            <a:schemeClr val="bg1"/>
          </a:solidFill>
          <a:ln w="76200">
            <a:solidFill>
              <a:srgbClr val="D02F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</a:rPr>
              <a:t>Ansible &amp; </a:t>
            </a:r>
            <a:r>
              <a:rPr lang="ko-KR" altLang="ko-KR" b="1" dirty="0">
                <a:solidFill>
                  <a:schemeClr val="tx1"/>
                </a:solidFill>
              </a:rPr>
              <a:t>운영 자동화 </a:t>
            </a:r>
            <a:endParaRPr lang="ko-KR" altLang="ko-KR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ko-KR" dirty="0">
                <a:solidFill>
                  <a:schemeClr val="tx1"/>
                </a:solidFill>
              </a:rPr>
              <a:t>서버 설정 자동화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ko-KR" dirty="0">
                <a:solidFill>
                  <a:schemeClr val="tx1"/>
                </a:solidFill>
              </a:rPr>
              <a:t>서비스 배포 자동화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ko-KR" dirty="0">
                <a:solidFill>
                  <a:schemeClr val="tx1"/>
                </a:solidFill>
              </a:rPr>
              <a:t>장애 복구 </a:t>
            </a:r>
            <a:r>
              <a:rPr lang="ko-KR" altLang="ko-KR" dirty="0" err="1">
                <a:solidFill>
                  <a:schemeClr val="tx1"/>
                </a:solidFill>
              </a:rPr>
              <a:t>플레이북</a:t>
            </a:r>
            <a:endParaRPr lang="ko-KR" altLang="ko-KR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ko-KR" dirty="0">
                <a:solidFill>
                  <a:schemeClr val="tx1"/>
                </a:solidFill>
              </a:rPr>
              <a:t>선택</a:t>
            </a:r>
            <a:r>
              <a:rPr lang="en-US" altLang="ko-KR" dirty="0">
                <a:solidFill>
                  <a:schemeClr val="tx1"/>
                </a:solidFill>
              </a:rPr>
              <a:t>) </a:t>
            </a:r>
            <a:r>
              <a:rPr lang="en-US" altLang="ko-KR" dirty="0" err="1">
                <a:solidFill>
                  <a:schemeClr val="tx1"/>
                </a:solidFill>
              </a:rPr>
              <a:t>cron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ko-KR" dirty="0">
                <a:solidFill>
                  <a:schemeClr val="tx1"/>
                </a:solidFill>
              </a:rPr>
              <a:t>기반 스케줄링</a:t>
            </a: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ko-KR" altLang="ko-KR" sz="2800" dirty="0">
              <a:solidFill>
                <a:schemeClr val="tx1"/>
              </a:solidFill>
            </a:endParaRPr>
          </a:p>
          <a:p>
            <a:r>
              <a:rPr lang="ko-KR" altLang="ko-KR" b="1" dirty="0">
                <a:solidFill>
                  <a:schemeClr val="tx1"/>
                </a:solidFill>
              </a:rPr>
              <a:t>핵심 포인트</a:t>
            </a:r>
            <a:endParaRPr lang="ko-KR" altLang="ko-KR" sz="28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tx1"/>
                </a:solidFill>
              </a:rPr>
              <a:t>“</a:t>
            </a:r>
            <a:r>
              <a:rPr lang="ko-KR" altLang="ko-KR" b="1" dirty="0">
                <a:solidFill>
                  <a:schemeClr val="tx1"/>
                </a:solidFill>
              </a:rPr>
              <a:t>앱 서버가 항상 동일하게 동작하도록 만들고 복구까지 자동화</a:t>
            </a:r>
            <a:r>
              <a:rPr lang="en-US" altLang="ko-KR" b="1" dirty="0">
                <a:solidFill>
                  <a:schemeClr val="tx1"/>
                </a:solidFill>
              </a:rPr>
              <a:t>”</a:t>
            </a:r>
            <a:endParaRPr lang="ko-KR" altLang="ko-KR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ko-KR" dirty="0">
                <a:solidFill>
                  <a:schemeClr val="tx1"/>
                </a:solidFill>
              </a:rPr>
              <a:t>주차 기본 세팅</a:t>
            </a:r>
            <a:r>
              <a:rPr lang="en-US" altLang="ko-KR" dirty="0">
                <a:solidFill>
                  <a:schemeClr val="tx1"/>
                </a:solidFill>
              </a:rPr>
              <a:t> → 2</a:t>
            </a:r>
            <a:r>
              <a:rPr lang="ko-KR" altLang="ko-KR" dirty="0">
                <a:solidFill>
                  <a:schemeClr val="tx1"/>
                </a:solidFill>
              </a:rPr>
              <a:t>주차 배포</a:t>
            </a:r>
            <a:r>
              <a:rPr lang="en-US" altLang="ko-KR" dirty="0">
                <a:solidFill>
                  <a:schemeClr val="tx1"/>
                </a:solidFill>
              </a:rPr>
              <a:t> → 2</a:t>
            </a:r>
            <a:r>
              <a:rPr lang="ko-KR" altLang="ko-KR" dirty="0">
                <a:solidFill>
                  <a:schemeClr val="tx1"/>
                </a:solidFill>
              </a:rPr>
              <a:t>주차 장애 복구 순서</a:t>
            </a:r>
          </a:p>
          <a:p>
            <a:endParaRPr lang="ko-KR" altLang="ko-KR" sz="2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9F645D-C660-AFD5-B1B9-97665B05DB72}"/>
              </a:ext>
            </a:extLst>
          </p:cNvPr>
          <p:cNvSpPr txBox="1"/>
          <p:nvPr/>
        </p:nvSpPr>
        <p:spPr>
          <a:xfrm>
            <a:off x="4075791" y="1443841"/>
            <a:ext cx="5039180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b="1" dirty="0"/>
              <a:t>필수 도구</a:t>
            </a:r>
            <a:r>
              <a:rPr lang="en-US" altLang="ko-KR" b="1" dirty="0"/>
              <a:t> &amp; </a:t>
            </a:r>
            <a:r>
              <a:rPr lang="ko-KR" altLang="ko-KR" b="1" dirty="0"/>
              <a:t>개념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Ansible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Inventory </a:t>
            </a:r>
            <a:r>
              <a:rPr lang="ko-KR" altLang="ko-KR" dirty="0"/>
              <a:t>작성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Playbook, Role </a:t>
            </a:r>
            <a:r>
              <a:rPr lang="ko-KR" altLang="ko-KR" dirty="0"/>
              <a:t>기본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ad-hoc </a:t>
            </a:r>
            <a:r>
              <a:rPr lang="ko-KR" altLang="ko-KR" dirty="0"/>
              <a:t>명령</a:t>
            </a:r>
            <a:r>
              <a:rPr lang="en-US" altLang="ko-KR" dirty="0"/>
              <a:t>(ping, shell)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Linux </a:t>
            </a:r>
            <a:r>
              <a:rPr lang="ko-KR" altLang="ko-KR" b="1" dirty="0"/>
              <a:t>기본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apt/yum </a:t>
            </a:r>
            <a:r>
              <a:rPr lang="ko-KR" altLang="ko-KR" dirty="0"/>
              <a:t>설치</a:t>
            </a:r>
            <a:r>
              <a:rPr lang="en-US" altLang="ko-KR" dirty="0"/>
              <a:t>, </a:t>
            </a:r>
            <a:r>
              <a:rPr lang="ko-KR" altLang="ko-KR" dirty="0"/>
              <a:t>서비스 관리</a:t>
            </a:r>
            <a:r>
              <a:rPr lang="en-US" altLang="ko-KR" dirty="0"/>
              <a:t>, </a:t>
            </a:r>
            <a:r>
              <a:rPr lang="ko-KR" altLang="ko-KR" dirty="0"/>
              <a:t>로그 확인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Docker (</a:t>
            </a:r>
            <a:r>
              <a:rPr lang="ko-KR" altLang="ko-KR" b="1" dirty="0"/>
              <a:t>기본</a:t>
            </a:r>
            <a:r>
              <a:rPr lang="en-US" altLang="ko-KR" b="1" dirty="0"/>
              <a:t>)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ko-KR" dirty="0"/>
              <a:t>컨테이너 실행</a:t>
            </a:r>
            <a:r>
              <a:rPr lang="en-US" altLang="ko-KR" dirty="0"/>
              <a:t>, </a:t>
            </a:r>
            <a:r>
              <a:rPr lang="ko-KR" altLang="ko-KR" dirty="0"/>
              <a:t>중지</a:t>
            </a:r>
            <a:r>
              <a:rPr lang="en-US" altLang="ko-KR" dirty="0"/>
              <a:t>, </a:t>
            </a:r>
            <a:r>
              <a:rPr lang="ko-KR" altLang="ko-KR" dirty="0"/>
              <a:t>삭제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ko-KR" dirty="0"/>
              <a:t>서비스 배포용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SSH </a:t>
            </a:r>
            <a:r>
              <a:rPr lang="ko-KR" altLang="ko-KR" b="1" dirty="0"/>
              <a:t>키 관리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ops </a:t>
            </a:r>
            <a:r>
              <a:rPr lang="ko-KR" altLang="ko-KR" dirty="0"/>
              <a:t>서버</a:t>
            </a:r>
            <a:r>
              <a:rPr lang="en-US" altLang="ko-KR" dirty="0"/>
              <a:t> → app </a:t>
            </a:r>
            <a:r>
              <a:rPr lang="ko-KR" altLang="ko-KR" dirty="0"/>
              <a:t>서버 접근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ko-KR" altLang="ko-KR" b="1" dirty="0"/>
              <a:t>장애 재현 시나리오 이해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ko-KR" dirty="0"/>
              <a:t>컨테이너 중지</a:t>
            </a:r>
            <a:r>
              <a:rPr lang="en-US" altLang="ko-KR" dirty="0"/>
              <a:t>, </a:t>
            </a:r>
            <a:r>
              <a:rPr lang="ko-KR" altLang="ko-KR" dirty="0"/>
              <a:t>프로세스 죽이기 등</a:t>
            </a:r>
            <a:endParaRPr lang="ko-KR" altLang="ko-KR" sz="2800" dirty="0"/>
          </a:p>
        </p:txBody>
      </p:sp>
    </p:spTree>
    <p:extLst>
      <p:ext uri="{BB962C8B-B14F-4D97-AF65-F5344CB8AC3E}">
        <p14:creationId xmlns:p14="http://schemas.microsoft.com/office/powerpoint/2010/main" val="1842261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08140-9CEB-7B02-BE92-C8983BB4A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C11E1F1-CAA2-8892-44A2-5D6272E0D2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58" b="97104" l="10000" r="90000">
                        <a14:foregroundMark x1="50000" y1="8687" x2="53000" y2="16023"/>
                        <a14:foregroundMark x1="87250" y1="21815" x2="60750" y2="30309"/>
                        <a14:foregroundMark x1="87000" y1="18919" x2="87750" y2="23166"/>
                        <a14:foregroundMark x1="87750" y1="18340" x2="87000" y2="18340"/>
                        <a14:foregroundMark x1="89250" y1="19305" x2="89500" y2="19884"/>
                        <a14:foregroundMark x1="50250" y1="1544" x2="50250" y2="1544"/>
                        <a14:foregroundMark x1="52250" y1="3282" x2="53500" y2="4440"/>
                        <a14:foregroundMark x1="50500" y1="90154" x2="50500" y2="65830"/>
                        <a14:foregroundMark x1="45500" y1="97104" x2="49000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837"/>
          <a:stretch/>
        </p:blipFill>
        <p:spPr bwMode="auto">
          <a:xfrm>
            <a:off x="10930271" y="3885810"/>
            <a:ext cx="1293628" cy="25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64F24E-EE88-5731-D621-C0426AEB1CF6}"/>
              </a:ext>
            </a:extLst>
          </p:cNvPr>
          <p:cNvSpPr txBox="1"/>
          <p:nvPr/>
        </p:nvSpPr>
        <p:spPr>
          <a:xfrm>
            <a:off x="295350" y="283185"/>
            <a:ext cx="9324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0-3.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Monitoring Team</a:t>
            </a:r>
            <a:endParaRPr lang="ko-KR" altLang="en-US" sz="4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3" name="사각형: 잘린 한쪽 모서리 2">
            <a:extLst>
              <a:ext uri="{FF2B5EF4-FFF2-40B4-BE49-F238E27FC236}">
                <a16:creationId xmlns:a16="http://schemas.microsoft.com/office/drawing/2014/main" id="{8E83196D-B407-320D-FE60-758F7A92D00F}"/>
              </a:ext>
            </a:extLst>
          </p:cNvPr>
          <p:cNvSpPr/>
          <p:nvPr/>
        </p:nvSpPr>
        <p:spPr>
          <a:xfrm>
            <a:off x="654493" y="1246372"/>
            <a:ext cx="10243879" cy="5179587"/>
          </a:xfrm>
          <a:prstGeom prst="snip1Rect">
            <a:avLst/>
          </a:prstGeom>
          <a:solidFill>
            <a:schemeClr val="bg1"/>
          </a:solidFill>
          <a:ln w="76200">
            <a:solidFill>
              <a:srgbClr val="D02F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ko-KR" b="1" dirty="0">
                <a:solidFill>
                  <a:schemeClr val="tx1"/>
                </a:solidFill>
              </a:rPr>
              <a:t>가시화</a:t>
            </a:r>
            <a:r>
              <a:rPr lang="en-US" altLang="ko-KR" b="1" dirty="0">
                <a:solidFill>
                  <a:schemeClr val="tx1"/>
                </a:solidFill>
              </a:rPr>
              <a:t> &amp; </a:t>
            </a:r>
            <a:r>
              <a:rPr lang="ko-KR" altLang="ko-KR" b="1" dirty="0">
                <a:solidFill>
                  <a:schemeClr val="tx1"/>
                </a:solidFill>
              </a:rPr>
              <a:t>근거 제공</a:t>
            </a:r>
            <a:endParaRPr lang="ko-KR" altLang="ko-KR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CPU / Memory / </a:t>
            </a:r>
            <a:r>
              <a:rPr lang="ko-KR" altLang="ko-KR" dirty="0">
                <a:solidFill>
                  <a:schemeClr val="tx1"/>
                </a:solidFill>
              </a:rPr>
              <a:t>서비스 상태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Grafana </a:t>
            </a:r>
            <a:r>
              <a:rPr lang="ko-KR" altLang="ko-KR" dirty="0">
                <a:solidFill>
                  <a:schemeClr val="tx1"/>
                </a:solidFill>
              </a:rPr>
              <a:t>대시보드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“</a:t>
            </a:r>
            <a:r>
              <a:rPr lang="ko-KR" altLang="ko-KR" dirty="0">
                <a:solidFill>
                  <a:schemeClr val="tx1"/>
                </a:solidFill>
              </a:rPr>
              <a:t>비용 낭비 가능 지점</a:t>
            </a:r>
            <a:r>
              <a:rPr lang="en-US" altLang="ko-KR" dirty="0">
                <a:solidFill>
                  <a:schemeClr val="tx1"/>
                </a:solidFill>
              </a:rPr>
              <a:t>” </a:t>
            </a:r>
            <a:r>
              <a:rPr lang="ko-KR" altLang="ko-KR" dirty="0">
                <a:solidFill>
                  <a:schemeClr val="tx1"/>
                </a:solidFill>
              </a:rPr>
              <a:t>도출</a:t>
            </a: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endParaRPr lang="ko-KR" altLang="ko-KR" sz="2800" dirty="0">
              <a:solidFill>
                <a:schemeClr val="tx1"/>
              </a:solidFill>
            </a:endParaRPr>
          </a:p>
          <a:p>
            <a:r>
              <a:rPr lang="ko-KR" altLang="ko-KR" b="1" dirty="0">
                <a:solidFill>
                  <a:schemeClr val="tx1"/>
                </a:solidFill>
              </a:rPr>
              <a:t>핵심 포인트</a:t>
            </a:r>
            <a:endParaRPr lang="ko-KR" altLang="ko-KR" sz="28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tx1"/>
                </a:solidFill>
              </a:rPr>
              <a:t>“</a:t>
            </a:r>
            <a:r>
              <a:rPr lang="ko-KR" altLang="ko-KR" b="1" dirty="0">
                <a:solidFill>
                  <a:schemeClr val="tx1"/>
                </a:solidFill>
              </a:rPr>
              <a:t>자동화 효과를 시각화</a:t>
            </a:r>
            <a:r>
              <a:rPr lang="en-US" altLang="ko-KR" b="1" dirty="0">
                <a:solidFill>
                  <a:schemeClr val="tx1"/>
                </a:solidFill>
              </a:rPr>
              <a:t>”</a:t>
            </a:r>
            <a:endParaRPr lang="ko-KR" altLang="ko-KR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ko-KR" dirty="0">
                <a:solidFill>
                  <a:schemeClr val="tx1"/>
                </a:solidFill>
              </a:rPr>
              <a:t>장애 발생 시 그래프로 확인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ko-KR" dirty="0">
                <a:solidFill>
                  <a:schemeClr val="tx1"/>
                </a:solidFill>
              </a:rPr>
              <a:t>복구 전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ko-KR" dirty="0">
                <a:solidFill>
                  <a:schemeClr val="tx1"/>
                </a:solidFill>
              </a:rPr>
              <a:t>후 비교 가능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ko-KR" dirty="0">
                <a:solidFill>
                  <a:schemeClr val="tx1"/>
                </a:solidFill>
              </a:rPr>
              <a:t>발표할 때 </a:t>
            </a:r>
            <a:r>
              <a:rPr lang="en-US" altLang="ko-KR" b="1" dirty="0">
                <a:solidFill>
                  <a:schemeClr val="tx1"/>
                </a:solidFill>
              </a:rPr>
              <a:t>“</a:t>
            </a:r>
            <a:r>
              <a:rPr lang="ko-KR" altLang="ko-KR" b="1" dirty="0">
                <a:solidFill>
                  <a:schemeClr val="tx1"/>
                </a:solidFill>
              </a:rPr>
              <a:t>자동화가 왜 필요한지 근거로 보여주는 역할</a:t>
            </a:r>
            <a:r>
              <a:rPr lang="en-US" altLang="ko-KR" b="1" dirty="0">
                <a:solidFill>
                  <a:schemeClr val="tx1"/>
                </a:solidFill>
              </a:rPr>
              <a:t>”</a:t>
            </a:r>
            <a:endParaRPr lang="ko-KR" altLang="ko-KR" dirty="0">
              <a:solidFill>
                <a:schemeClr val="tx1"/>
              </a:solidFill>
            </a:endParaRPr>
          </a:p>
          <a:p>
            <a:endParaRPr lang="ko-KR" altLang="ko-KR" sz="2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F5E52F-FCAE-0DA2-7E10-4D5ECD74160B}"/>
              </a:ext>
            </a:extLst>
          </p:cNvPr>
          <p:cNvSpPr txBox="1"/>
          <p:nvPr/>
        </p:nvSpPr>
        <p:spPr>
          <a:xfrm>
            <a:off x="4278990" y="1720840"/>
            <a:ext cx="5851981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b="1" dirty="0"/>
              <a:t>필수 도구</a:t>
            </a:r>
            <a:r>
              <a:rPr lang="en-US" altLang="ko-KR" b="1" dirty="0"/>
              <a:t> &amp; </a:t>
            </a:r>
            <a:r>
              <a:rPr lang="ko-KR" altLang="ko-KR" b="1" dirty="0"/>
              <a:t>개념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Prometheus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 err="1"/>
              <a:t>node_exporter</a:t>
            </a:r>
            <a:r>
              <a:rPr lang="en-US" altLang="ko-KR" dirty="0"/>
              <a:t> </a:t>
            </a:r>
            <a:r>
              <a:rPr lang="ko-KR" altLang="ko-KR" dirty="0"/>
              <a:t>설치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scrape </a:t>
            </a:r>
            <a:r>
              <a:rPr lang="ko-KR" altLang="ko-KR" dirty="0"/>
              <a:t>설정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metric </a:t>
            </a:r>
            <a:r>
              <a:rPr lang="ko-KR" altLang="ko-KR" dirty="0"/>
              <a:t>수집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Grafana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ko-KR" dirty="0"/>
              <a:t>대시보드 생성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ko-KR" dirty="0"/>
              <a:t>서버별</a:t>
            </a:r>
            <a:r>
              <a:rPr lang="en-US" altLang="ko-KR" dirty="0"/>
              <a:t> CPU, Memory, </a:t>
            </a:r>
            <a:r>
              <a:rPr lang="ko-KR" altLang="ko-KR" dirty="0"/>
              <a:t>컨테이너 상태 시각화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b="1" dirty="0"/>
              <a:t>Linux </a:t>
            </a:r>
            <a:r>
              <a:rPr lang="ko-KR" altLang="ko-KR" b="1" dirty="0"/>
              <a:t>서비스 관리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Prometheus / </a:t>
            </a:r>
            <a:r>
              <a:rPr lang="en-US" altLang="ko-KR" dirty="0" err="1"/>
              <a:t>node_exporter</a:t>
            </a:r>
            <a:r>
              <a:rPr lang="en-US" altLang="ko-KR" dirty="0"/>
              <a:t> </a:t>
            </a:r>
            <a:r>
              <a:rPr lang="ko-KR" altLang="ko-KR" dirty="0"/>
              <a:t>서비스 시작</a:t>
            </a:r>
            <a:r>
              <a:rPr lang="en-US" altLang="ko-KR" dirty="0"/>
              <a:t>/</a:t>
            </a:r>
            <a:r>
              <a:rPr lang="ko-KR" altLang="ko-KR" dirty="0"/>
              <a:t>중지</a:t>
            </a:r>
            <a:endParaRPr lang="ko-KR" altLang="ko-KR" sz="2800" dirty="0"/>
          </a:p>
          <a:p>
            <a:pPr marL="342900" lvl="0" indent="-342900">
              <a:buFont typeface="+mj-lt"/>
              <a:buAutoNum type="arabicPeriod"/>
            </a:pPr>
            <a:r>
              <a:rPr lang="ko-KR" altLang="ko-KR" b="1" dirty="0"/>
              <a:t>기본 네트워크 이해</a:t>
            </a:r>
            <a:endParaRPr lang="ko-KR" altLang="ko-KR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ops → app </a:t>
            </a:r>
            <a:r>
              <a:rPr lang="ko-KR" altLang="ko-KR" dirty="0"/>
              <a:t>서버</a:t>
            </a:r>
            <a:r>
              <a:rPr lang="en-US" altLang="ko-KR" dirty="0"/>
              <a:t> metric </a:t>
            </a:r>
            <a:r>
              <a:rPr lang="ko-KR" altLang="ko-KR" dirty="0"/>
              <a:t>통신 확인</a:t>
            </a:r>
            <a:endParaRPr lang="ko-KR" altLang="ko-KR" sz="2800" dirty="0"/>
          </a:p>
        </p:txBody>
      </p:sp>
    </p:spTree>
    <p:extLst>
      <p:ext uri="{BB962C8B-B14F-4D97-AF65-F5344CB8AC3E}">
        <p14:creationId xmlns:p14="http://schemas.microsoft.com/office/powerpoint/2010/main" val="50842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도표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9582EB-79A7-5F6E-57AE-994F99E38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113" y="239806"/>
            <a:ext cx="7611537" cy="63350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CDFC2C-9AA6-4CD2-4110-AFBAE48DF853}"/>
              </a:ext>
            </a:extLst>
          </p:cNvPr>
          <p:cNvSpPr txBox="1"/>
          <p:nvPr/>
        </p:nvSpPr>
        <p:spPr>
          <a:xfrm>
            <a:off x="289808" y="283185"/>
            <a:ext cx="38166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0-4.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endParaRPr lang="en-US" altLang="ko-KR" sz="4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Architectural</a:t>
            </a:r>
          </a:p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diagram</a:t>
            </a:r>
            <a:endParaRPr lang="ko-KR" altLang="en-US" sz="4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5136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D9668-65EC-C1F1-F72C-24DC9A1B4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1E3679-0A30-BA40-8910-F0CED2FB8ADA}"/>
              </a:ext>
            </a:extLst>
          </p:cNvPr>
          <p:cNvSpPr txBox="1"/>
          <p:nvPr/>
        </p:nvSpPr>
        <p:spPr>
          <a:xfrm>
            <a:off x="289808" y="283185"/>
            <a:ext cx="11248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0-5.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Architectural diagram description</a:t>
            </a:r>
            <a:endParaRPr lang="ko-KR" altLang="en-US" sz="4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B14FE3-E171-3BBE-24E8-F6178332510F}"/>
              </a:ext>
            </a:extLst>
          </p:cNvPr>
          <p:cNvSpPr txBox="1"/>
          <p:nvPr/>
        </p:nvSpPr>
        <p:spPr>
          <a:xfrm>
            <a:off x="118703" y="1443841"/>
            <a:ext cx="3818313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app-1, app-2 (</a:t>
            </a:r>
            <a:r>
              <a:rPr lang="ko-KR" altLang="en-US" b="1" dirty="0"/>
              <a:t>서비스 담당</a:t>
            </a:r>
            <a:r>
              <a:rPr lang="en-US" altLang="ko-KR" b="1" dirty="0"/>
              <a:t>)</a:t>
            </a:r>
            <a:endParaRPr lang="ko-KR" altLang="ko-KR" dirty="0"/>
          </a:p>
          <a:p>
            <a:pPr lvl="0"/>
            <a:r>
              <a:rPr lang="en-US" altLang="ko-KR" dirty="0"/>
              <a:t>- </a:t>
            </a:r>
            <a:r>
              <a:rPr lang="ko-KR" altLang="ko-KR" dirty="0"/>
              <a:t>점심 </a:t>
            </a:r>
            <a:r>
              <a:rPr lang="ko-KR" altLang="ko-KR" dirty="0" err="1"/>
              <a:t>룰렛</a:t>
            </a:r>
            <a:r>
              <a:rPr lang="ko-KR" altLang="ko-KR" dirty="0"/>
              <a:t> 서비스 실행</a:t>
            </a:r>
          </a:p>
          <a:p>
            <a:pPr lvl="0"/>
            <a:r>
              <a:rPr lang="en-US" altLang="ko-KR" dirty="0"/>
              <a:t>- Docker </a:t>
            </a:r>
            <a:r>
              <a:rPr lang="ko-KR" altLang="ko-KR" dirty="0"/>
              <a:t>컨테이너 구동</a:t>
            </a:r>
          </a:p>
          <a:p>
            <a:pPr lvl="0"/>
            <a:r>
              <a:rPr lang="en-US" altLang="ko-KR" dirty="0"/>
              <a:t>- Ansible </a:t>
            </a:r>
            <a:r>
              <a:rPr lang="ko-KR" altLang="ko-KR" dirty="0"/>
              <a:t>관리 대상</a:t>
            </a:r>
          </a:p>
          <a:p>
            <a:pPr lvl="0"/>
            <a:r>
              <a:rPr lang="en-US" altLang="ko-KR" dirty="0"/>
              <a:t>- </a:t>
            </a:r>
            <a:r>
              <a:rPr lang="ko-KR" altLang="ko-KR" dirty="0"/>
              <a:t>장애 발생 대상</a:t>
            </a:r>
            <a:r>
              <a:rPr lang="en-US" altLang="ko-KR" dirty="0"/>
              <a:t> (</a:t>
            </a:r>
            <a:r>
              <a:rPr lang="ko-KR" altLang="ko-KR" dirty="0"/>
              <a:t>여기서 터뜨림</a:t>
            </a:r>
            <a:r>
              <a:rPr lang="en-US" altLang="ko-KR" dirty="0"/>
              <a:t>)</a:t>
            </a:r>
          </a:p>
          <a:p>
            <a:pPr lvl="0"/>
            <a:endParaRPr lang="ko-KR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ops </a:t>
            </a:r>
            <a:r>
              <a:rPr lang="ko-KR" altLang="ko-KR" b="1" dirty="0"/>
              <a:t>서버</a:t>
            </a:r>
            <a:r>
              <a:rPr lang="en-US" altLang="ko-KR" b="1" dirty="0"/>
              <a:t> (</a:t>
            </a:r>
            <a:r>
              <a:rPr lang="ko-KR" altLang="en-US" b="1" dirty="0"/>
              <a:t>관리</a:t>
            </a:r>
            <a:r>
              <a:rPr lang="en-US" altLang="ko-KR" b="1" dirty="0"/>
              <a:t>,</a:t>
            </a:r>
            <a:r>
              <a:rPr lang="ko-KR" altLang="en-US" b="1" dirty="0"/>
              <a:t>자동화</a:t>
            </a:r>
            <a:r>
              <a:rPr lang="en-US" altLang="ko-KR" b="1" dirty="0"/>
              <a:t>,</a:t>
            </a:r>
            <a:r>
              <a:rPr lang="ko-KR" altLang="en-US" b="1" dirty="0"/>
              <a:t>모니터링</a:t>
            </a:r>
            <a:r>
              <a:rPr lang="en-US" altLang="ko-KR" b="1" dirty="0"/>
              <a:t>)</a:t>
            </a:r>
            <a:endParaRPr lang="ko-KR" altLang="ko-KR" dirty="0"/>
          </a:p>
          <a:p>
            <a:pPr lvl="0"/>
            <a:r>
              <a:rPr lang="en-US" altLang="ko-KR" dirty="0"/>
              <a:t>- Ansible </a:t>
            </a:r>
            <a:r>
              <a:rPr lang="ko-KR" altLang="ko-KR" dirty="0"/>
              <a:t>실행 주체</a:t>
            </a:r>
          </a:p>
          <a:p>
            <a:pPr lvl="0"/>
            <a:r>
              <a:rPr lang="en-US" altLang="ko-KR" dirty="0"/>
              <a:t>- Prometheus </a:t>
            </a:r>
            <a:r>
              <a:rPr lang="ko-KR" altLang="ko-KR" dirty="0"/>
              <a:t>서버</a:t>
            </a:r>
          </a:p>
          <a:p>
            <a:pPr lvl="0"/>
            <a:r>
              <a:rPr lang="en-US" altLang="ko-KR" dirty="0"/>
              <a:t>- (</a:t>
            </a:r>
            <a:r>
              <a:rPr lang="ko-KR" altLang="ko-KR" dirty="0"/>
              <a:t>선택</a:t>
            </a:r>
            <a:r>
              <a:rPr lang="en-US" altLang="ko-KR" dirty="0"/>
              <a:t>) Grafana</a:t>
            </a:r>
            <a:endParaRPr lang="ko-KR" altLang="ko-KR" dirty="0"/>
          </a:p>
          <a:p>
            <a:pPr lvl="0"/>
            <a:r>
              <a:rPr lang="en-US" altLang="ko-KR" dirty="0"/>
              <a:t>- CI </a:t>
            </a:r>
            <a:r>
              <a:rPr lang="ko-KR" altLang="ko-KR" dirty="0"/>
              <a:t>실행</a:t>
            </a:r>
            <a:endParaRPr lang="en-US" altLang="ko-KR" dirty="0"/>
          </a:p>
          <a:p>
            <a:pPr lvl="0"/>
            <a:endParaRPr lang="ko-KR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local </a:t>
            </a:r>
            <a:r>
              <a:rPr lang="en-US" altLang="ko-KR" b="1" dirty="0" err="1"/>
              <a:t>mysql</a:t>
            </a:r>
            <a:r>
              <a:rPr lang="ko-KR" altLang="ko-KR" b="1" dirty="0"/>
              <a:t>로 충분</a:t>
            </a:r>
          </a:p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E5F575-6E75-BE89-1431-1727366324D6}"/>
              </a:ext>
            </a:extLst>
          </p:cNvPr>
          <p:cNvSpPr txBox="1"/>
          <p:nvPr/>
        </p:nvSpPr>
        <p:spPr>
          <a:xfrm>
            <a:off x="4108467" y="1443841"/>
            <a:ext cx="4208516" cy="4801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b="1" dirty="0"/>
              <a:t>서비스 서버</a:t>
            </a:r>
            <a:r>
              <a:rPr lang="en-US" altLang="ko-KR" b="1" dirty="0"/>
              <a:t> 2</a:t>
            </a:r>
            <a:r>
              <a:rPr lang="ko-KR" altLang="ko-KR" b="1" dirty="0"/>
              <a:t>대</a:t>
            </a:r>
            <a:r>
              <a:rPr lang="en-US" altLang="ko-KR" b="1" dirty="0"/>
              <a:t>(app-1, app-2)</a:t>
            </a:r>
            <a:r>
              <a:rPr lang="ko-KR" altLang="ko-KR" b="1" dirty="0"/>
              <a:t>를 </a:t>
            </a:r>
            <a:br>
              <a:rPr lang="en-US" altLang="ko-KR" b="1" dirty="0"/>
            </a:br>
            <a:r>
              <a:rPr lang="ko-KR" altLang="ko-KR" b="1" dirty="0"/>
              <a:t>운영 서버</a:t>
            </a:r>
            <a:r>
              <a:rPr lang="en-US" altLang="ko-KR" b="1" dirty="0"/>
              <a:t> 1</a:t>
            </a:r>
            <a:r>
              <a:rPr lang="ko-KR" altLang="ko-KR" b="1" dirty="0"/>
              <a:t>대</a:t>
            </a:r>
            <a:r>
              <a:rPr lang="en-US" altLang="ko-KR" b="1" dirty="0"/>
              <a:t>(ops)</a:t>
            </a:r>
            <a:r>
              <a:rPr lang="ko-KR" altLang="ko-KR" b="1" dirty="0"/>
              <a:t>가 관리하고</a:t>
            </a:r>
            <a:r>
              <a:rPr lang="en-US" altLang="ko-KR" b="1" dirty="0"/>
              <a:t>,</a:t>
            </a:r>
            <a:br>
              <a:rPr lang="en-US" altLang="ko-KR" b="1" dirty="0"/>
            </a:br>
            <a:r>
              <a:rPr lang="ko-KR" altLang="ko-KR" b="1" dirty="0"/>
              <a:t>모든 자동화와 모니터링은</a:t>
            </a:r>
            <a:r>
              <a:rPr lang="en-US" altLang="ko-KR" b="1" dirty="0"/>
              <a:t> ops</a:t>
            </a:r>
            <a:r>
              <a:rPr lang="ko-KR" altLang="ko-KR" b="1" dirty="0"/>
              <a:t>에서 </a:t>
            </a:r>
            <a:br>
              <a:rPr lang="en-US" altLang="ko-KR" b="1" dirty="0"/>
            </a:br>
            <a:r>
              <a:rPr lang="ko-KR" altLang="ko-KR" b="1" dirty="0"/>
              <a:t>수행된다</a:t>
            </a:r>
            <a:r>
              <a:rPr lang="en-US" altLang="ko-KR" b="1" dirty="0"/>
              <a:t>.</a:t>
            </a:r>
            <a:endParaRPr lang="ko-KR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① app-1 (</a:t>
            </a:r>
            <a:r>
              <a:rPr lang="ko-KR" altLang="ko-KR" b="1" dirty="0"/>
              <a:t>서비스 서버</a:t>
            </a:r>
            <a:r>
              <a:rPr lang="en-US" altLang="ko-KR" b="1" dirty="0"/>
              <a:t>)</a:t>
            </a:r>
            <a:endParaRPr lang="ko-KR" altLang="ko-KR" dirty="0"/>
          </a:p>
          <a:p>
            <a:pPr lvl="0"/>
            <a:r>
              <a:rPr lang="en-US" altLang="ko-KR" dirty="0"/>
              <a:t>- </a:t>
            </a:r>
            <a:r>
              <a:rPr lang="ko-KR" altLang="ko-KR" dirty="0"/>
              <a:t>점심 </a:t>
            </a:r>
            <a:r>
              <a:rPr lang="ko-KR" altLang="ko-KR" dirty="0" err="1"/>
              <a:t>룰렛</a:t>
            </a:r>
            <a:r>
              <a:rPr lang="ko-KR" altLang="ko-KR" dirty="0"/>
              <a:t> 애플리케이션 실행</a:t>
            </a:r>
          </a:p>
          <a:p>
            <a:pPr lvl="0"/>
            <a:r>
              <a:rPr lang="en-US" altLang="ko-KR" dirty="0"/>
              <a:t>- Docker </a:t>
            </a:r>
            <a:r>
              <a:rPr lang="ko-KR" altLang="ko-KR" dirty="0"/>
              <a:t>컨테이너로 서비스 구동</a:t>
            </a:r>
          </a:p>
          <a:p>
            <a:pPr lvl="0"/>
            <a:r>
              <a:rPr lang="en-US" altLang="ko-KR" dirty="0"/>
              <a:t>- </a:t>
            </a:r>
            <a:r>
              <a:rPr lang="ko-KR" altLang="ko-KR" dirty="0"/>
              <a:t>외부 요청</a:t>
            </a:r>
            <a:r>
              <a:rPr lang="en-US" altLang="ko-KR" dirty="0"/>
              <a:t>(</a:t>
            </a:r>
            <a:r>
              <a:rPr lang="ko-KR" altLang="ko-KR" dirty="0"/>
              <a:t>브라우저</a:t>
            </a:r>
            <a:r>
              <a:rPr lang="en-US" altLang="ko-KR" dirty="0"/>
              <a:t>)</a:t>
            </a:r>
            <a:r>
              <a:rPr lang="ko-KR" altLang="ko-KR" dirty="0"/>
              <a:t>이 들어오는 서버</a:t>
            </a:r>
          </a:p>
          <a:p>
            <a:pPr lvl="0"/>
            <a:r>
              <a:rPr lang="en-US" altLang="ko-KR" dirty="0"/>
              <a:t>- </a:t>
            </a:r>
            <a:r>
              <a:rPr lang="ko-KR" altLang="ko-KR" dirty="0"/>
              <a:t>장애가 발생하는 대상</a:t>
            </a:r>
            <a:endParaRPr lang="en-US" altLang="ko-KR" dirty="0"/>
          </a:p>
          <a:p>
            <a:pPr marL="285750" lvl="0" indent="-285750">
              <a:buFontTx/>
              <a:buChar char="-"/>
            </a:pPr>
            <a:endParaRPr lang="ko-KR" altLang="ko-KR" dirty="0"/>
          </a:p>
          <a:p>
            <a:r>
              <a:rPr lang="en-US" altLang="ko-KR" b="1" dirty="0"/>
              <a:t>② app-2 (</a:t>
            </a:r>
            <a:r>
              <a:rPr lang="ko-KR" altLang="ko-KR" b="1" dirty="0"/>
              <a:t>서비스 서버</a:t>
            </a:r>
            <a:r>
              <a:rPr lang="en-US" altLang="ko-KR" b="1" dirty="0"/>
              <a:t>)</a:t>
            </a:r>
            <a:endParaRPr lang="ko-KR" altLang="ko-KR" dirty="0"/>
          </a:p>
          <a:p>
            <a:pPr lvl="0"/>
            <a:r>
              <a:rPr lang="en-US" altLang="ko-KR" dirty="0"/>
              <a:t>- app-1</a:t>
            </a:r>
            <a:r>
              <a:rPr lang="ko-KR" altLang="ko-KR" dirty="0"/>
              <a:t>과 </a:t>
            </a:r>
            <a:r>
              <a:rPr lang="ko-KR" altLang="ko-KR" b="1" dirty="0"/>
              <a:t>완전히 같은 역할</a:t>
            </a:r>
            <a:endParaRPr lang="ko-KR" altLang="ko-KR" dirty="0"/>
          </a:p>
          <a:p>
            <a:pPr lvl="0"/>
            <a:r>
              <a:rPr lang="en-US" altLang="ko-KR" dirty="0"/>
              <a:t>- </a:t>
            </a:r>
            <a:r>
              <a:rPr lang="ko-KR" altLang="ko-KR" dirty="0"/>
              <a:t>설정</a:t>
            </a:r>
            <a:r>
              <a:rPr lang="en-US" altLang="ko-KR" dirty="0"/>
              <a:t>, </a:t>
            </a:r>
            <a:r>
              <a:rPr lang="ko-KR" altLang="ko-KR" dirty="0"/>
              <a:t>소프트웨어</a:t>
            </a:r>
            <a:r>
              <a:rPr lang="en-US" altLang="ko-KR" dirty="0"/>
              <a:t>, </a:t>
            </a:r>
            <a:r>
              <a:rPr lang="ko-KR" altLang="ko-KR" dirty="0"/>
              <a:t>서비스 전부 동일</a:t>
            </a:r>
          </a:p>
          <a:p>
            <a:pPr lvl="0"/>
            <a:r>
              <a:rPr lang="ko-KR" altLang="ko-KR" dirty="0"/>
              <a:t>장애 대응 및 자동화 테스트용</a:t>
            </a:r>
            <a:endParaRPr lang="en-US" altLang="ko-KR" dirty="0"/>
          </a:p>
          <a:p>
            <a:pPr marL="285750" lvl="0" indent="-285750">
              <a:buFontTx/>
              <a:buChar char="-"/>
            </a:pPr>
            <a:endParaRPr lang="ko-KR" altLang="ko-KR" dirty="0"/>
          </a:p>
          <a:p>
            <a:r>
              <a:rPr lang="en-US" altLang="ko-KR" b="1" dirty="0"/>
              <a:t>▶ app-1</a:t>
            </a:r>
            <a:r>
              <a:rPr lang="ko-KR" altLang="ko-KR" b="1" dirty="0"/>
              <a:t>과</a:t>
            </a:r>
            <a:r>
              <a:rPr lang="en-US" altLang="ko-KR" b="1" dirty="0"/>
              <a:t> app-2</a:t>
            </a:r>
            <a:r>
              <a:rPr lang="ko-KR" altLang="ko-KR" b="1" dirty="0"/>
              <a:t>는</a:t>
            </a:r>
            <a:r>
              <a:rPr lang="en-US" altLang="ko-KR" b="1" dirty="0"/>
              <a:t> </a:t>
            </a:r>
            <a:r>
              <a:rPr lang="ko-KR" altLang="ko-KR" b="1" dirty="0" err="1"/>
              <a:t>복제본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50E2E0-9AC1-A19D-70B9-A25950909CDE}"/>
              </a:ext>
            </a:extLst>
          </p:cNvPr>
          <p:cNvSpPr txBox="1"/>
          <p:nvPr/>
        </p:nvSpPr>
        <p:spPr>
          <a:xfrm>
            <a:off x="8481852" y="1443841"/>
            <a:ext cx="357724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③ ops (</a:t>
            </a:r>
            <a:r>
              <a:rPr lang="ko-KR" altLang="ko-KR" b="1" dirty="0"/>
              <a:t>운영 서버</a:t>
            </a:r>
            <a:r>
              <a:rPr lang="en-US" altLang="ko-KR" b="1" dirty="0"/>
              <a:t>)</a:t>
            </a:r>
            <a:endParaRPr lang="ko-KR" altLang="ko-KR" dirty="0"/>
          </a:p>
          <a:p>
            <a:pPr lvl="0"/>
            <a:r>
              <a:rPr lang="en-US" altLang="ko-KR" dirty="0"/>
              <a:t>- </a:t>
            </a:r>
            <a:r>
              <a:rPr lang="ko-KR" altLang="ko-KR" dirty="0"/>
              <a:t>사람은 이 서버에만 접속</a:t>
            </a:r>
          </a:p>
          <a:p>
            <a:pPr lvl="0"/>
            <a:r>
              <a:rPr lang="en-US" altLang="ko-KR" dirty="0"/>
              <a:t>- Ansible </a:t>
            </a:r>
            <a:r>
              <a:rPr lang="ko-KR" altLang="ko-KR" dirty="0"/>
              <a:t>실행</a:t>
            </a:r>
          </a:p>
          <a:p>
            <a:pPr lvl="0"/>
            <a:r>
              <a:rPr lang="en-US" altLang="ko-KR" dirty="0"/>
              <a:t>- Prometheus / Grafana </a:t>
            </a:r>
            <a:r>
              <a:rPr lang="ko-KR" altLang="ko-KR" dirty="0"/>
              <a:t>실행</a:t>
            </a:r>
          </a:p>
          <a:p>
            <a:pPr lvl="0"/>
            <a:r>
              <a:rPr lang="en-US" altLang="ko-KR" dirty="0"/>
              <a:t>- (</a:t>
            </a:r>
            <a:r>
              <a:rPr lang="ko-KR" altLang="ko-KR" dirty="0"/>
              <a:t>선택</a:t>
            </a:r>
            <a:r>
              <a:rPr lang="en-US" altLang="ko-KR" dirty="0"/>
              <a:t>) CI/CD </a:t>
            </a:r>
            <a:r>
              <a:rPr lang="ko-KR" altLang="ko-KR" dirty="0"/>
              <a:t>실행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7B5BB6-3982-6E8C-9830-755EA36DDB8F}"/>
              </a:ext>
            </a:extLst>
          </p:cNvPr>
          <p:cNvSpPr txBox="1"/>
          <p:nvPr/>
        </p:nvSpPr>
        <p:spPr>
          <a:xfrm>
            <a:off x="8481852" y="3429000"/>
            <a:ext cx="3176946" cy="32778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b="1" dirty="0"/>
              <a:t>운영자가 작업할 때</a:t>
            </a:r>
            <a:endParaRPr lang="ko-KR" altLang="ko-KR" dirty="0"/>
          </a:p>
          <a:p>
            <a:r>
              <a:rPr lang="ko-KR" altLang="ko-KR" dirty="0"/>
              <a:t>운영자</a:t>
            </a:r>
          </a:p>
          <a:p>
            <a:r>
              <a:rPr lang="en-US" altLang="ko-KR" dirty="0"/>
              <a:t>   ↓ (SSH)</a:t>
            </a:r>
            <a:endParaRPr lang="ko-KR" altLang="ko-KR" dirty="0"/>
          </a:p>
          <a:p>
            <a:r>
              <a:rPr lang="en-US" altLang="ko-KR" dirty="0"/>
              <a:t>ops </a:t>
            </a:r>
            <a:r>
              <a:rPr lang="ko-KR" altLang="ko-KR" dirty="0"/>
              <a:t>서버</a:t>
            </a:r>
          </a:p>
          <a:p>
            <a:r>
              <a:rPr lang="en-US" altLang="ko-KR" dirty="0"/>
              <a:t>   ↓ (Ansible / SSH)</a:t>
            </a:r>
            <a:endParaRPr lang="ko-KR" altLang="ko-KR" dirty="0"/>
          </a:p>
          <a:p>
            <a:r>
              <a:rPr lang="en-US" altLang="ko-KR" dirty="0"/>
              <a:t>app-1, app-2</a:t>
            </a:r>
          </a:p>
          <a:p>
            <a:endParaRPr lang="ko-KR" altLang="ko-KR" dirty="0"/>
          </a:p>
          <a:p>
            <a:r>
              <a:rPr lang="ko-KR" altLang="ko-KR" dirty="0"/>
              <a:t>운영자는 </a:t>
            </a:r>
            <a:r>
              <a:rPr lang="ko-KR" altLang="ko-KR" b="1" dirty="0"/>
              <a:t>절대</a:t>
            </a:r>
            <a:r>
              <a:rPr lang="en-US" altLang="ko-KR" b="1" dirty="0"/>
              <a:t> app </a:t>
            </a:r>
            <a:r>
              <a:rPr lang="ko-KR" altLang="ko-KR" b="1" dirty="0"/>
              <a:t>서버에 직접</a:t>
            </a:r>
            <a:r>
              <a:rPr lang="en-US" altLang="ko-KR" b="1" dirty="0"/>
              <a:t> SSH </a:t>
            </a:r>
            <a:r>
              <a:rPr lang="ko-KR" altLang="ko-KR" b="1" dirty="0"/>
              <a:t>안 함</a:t>
            </a:r>
            <a:endParaRPr lang="en-US" altLang="ko-KR" b="1" dirty="0"/>
          </a:p>
          <a:p>
            <a:endParaRPr lang="en-US" altLang="ko-KR" sz="700" b="1" dirty="0"/>
          </a:p>
          <a:p>
            <a:r>
              <a:rPr lang="ko-KR" altLang="en-US" b="1" dirty="0"/>
              <a:t>이유는 실수 방지 및 일관성 유지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1759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EF323-A166-45B0-010A-F2D9FCE05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604B-B3A2-9329-3E25-A8E27C0C3EDE}"/>
              </a:ext>
            </a:extLst>
          </p:cNvPr>
          <p:cNvSpPr txBox="1"/>
          <p:nvPr/>
        </p:nvSpPr>
        <p:spPr>
          <a:xfrm>
            <a:off x="289808" y="283185"/>
            <a:ext cx="11248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0-6.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Architectural diagram description</a:t>
            </a:r>
            <a:endParaRPr lang="ko-KR" altLang="en-US" sz="4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41493-71C7-2E3D-88DD-72AAE1AA8872}"/>
              </a:ext>
            </a:extLst>
          </p:cNvPr>
          <p:cNvSpPr txBox="1"/>
          <p:nvPr/>
        </p:nvSpPr>
        <p:spPr>
          <a:xfrm>
            <a:off x="118355" y="1711404"/>
            <a:ext cx="3818313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 </a:t>
            </a:r>
            <a:r>
              <a:rPr lang="ko-KR" altLang="ko-KR" b="1" dirty="0"/>
              <a:t>배포할 때</a:t>
            </a:r>
            <a:endParaRPr lang="ko-KR" altLang="ko-KR" dirty="0"/>
          </a:p>
          <a:p>
            <a:r>
              <a:rPr lang="en-US" altLang="ko-KR" dirty="0"/>
              <a:t>ops</a:t>
            </a:r>
            <a:endParaRPr lang="ko-KR" altLang="ko-KR" dirty="0"/>
          </a:p>
          <a:p>
            <a:r>
              <a:rPr lang="en-US" altLang="ko-KR" dirty="0"/>
              <a:t> └─ ansible-playbook </a:t>
            </a:r>
            <a:r>
              <a:rPr lang="en-US" altLang="ko-KR" dirty="0" err="1"/>
              <a:t>deploy.yml</a:t>
            </a:r>
            <a:endParaRPr lang="ko-KR" altLang="ko-KR" dirty="0"/>
          </a:p>
          <a:p>
            <a:r>
              <a:rPr lang="en-US" altLang="ko-KR" dirty="0"/>
              <a:t>       ↓</a:t>
            </a:r>
            <a:endParaRPr lang="ko-KR" altLang="ko-KR" dirty="0"/>
          </a:p>
          <a:p>
            <a:r>
              <a:rPr lang="en-US" altLang="ko-KR" dirty="0"/>
              <a:t>   app-1, app-2</a:t>
            </a:r>
            <a:endParaRPr lang="ko-KR" altLang="ko-KR" dirty="0"/>
          </a:p>
          <a:p>
            <a:r>
              <a:rPr lang="en-US" altLang="ko-KR" dirty="0"/>
              <a:t>     └─ Docker </a:t>
            </a:r>
            <a:r>
              <a:rPr lang="ko-KR" altLang="ko-KR" dirty="0"/>
              <a:t>설치</a:t>
            </a:r>
          </a:p>
          <a:p>
            <a:r>
              <a:rPr lang="en-US" altLang="ko-KR" dirty="0"/>
              <a:t>     └─ </a:t>
            </a:r>
            <a:r>
              <a:rPr lang="ko-KR" altLang="ko-KR" dirty="0"/>
              <a:t>컨테이너 실행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b="1" dirty="0"/>
              <a:t>한 번 실행</a:t>
            </a:r>
            <a:r>
              <a:rPr lang="en-US" altLang="ko-KR" b="1" dirty="0"/>
              <a:t> → </a:t>
            </a:r>
            <a:r>
              <a:rPr lang="ko-KR" altLang="ko-KR" b="1" dirty="0"/>
              <a:t>두 서버 동시 배포</a:t>
            </a:r>
            <a:endParaRPr lang="ko-KR" altLang="ko-KR" dirty="0"/>
          </a:p>
          <a:p>
            <a:r>
              <a:rPr lang="en-US" altLang="ko-KR" dirty="0"/>
              <a:t> </a:t>
            </a:r>
            <a:endParaRPr lang="ko-KR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0F9222-DA66-2801-A6AC-486FCD208388}"/>
              </a:ext>
            </a:extLst>
          </p:cNvPr>
          <p:cNvSpPr txBox="1"/>
          <p:nvPr/>
        </p:nvSpPr>
        <p:spPr>
          <a:xfrm>
            <a:off x="4072543" y="1691491"/>
            <a:ext cx="3818313" cy="3831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b="1" dirty="0"/>
              <a:t>장애가 발생했을 때</a:t>
            </a:r>
            <a:endParaRPr lang="en-US" altLang="ko-KR" b="1" dirty="0"/>
          </a:p>
          <a:p>
            <a:endParaRPr lang="ko-KR" altLang="ko-KR" sz="900" dirty="0"/>
          </a:p>
          <a:p>
            <a:r>
              <a:rPr lang="en-US" altLang="ko-KR" dirty="0"/>
              <a:t>(</a:t>
            </a:r>
            <a:r>
              <a:rPr lang="ko-KR" altLang="ko-KR" dirty="0"/>
              <a:t>일부러</a:t>
            </a:r>
            <a:r>
              <a:rPr lang="en-US" altLang="ko-KR" dirty="0"/>
              <a:t>)</a:t>
            </a:r>
            <a:endParaRPr lang="ko-KR" altLang="ko-KR" dirty="0"/>
          </a:p>
          <a:p>
            <a:r>
              <a:rPr lang="en-US" altLang="ko-KR" dirty="0"/>
              <a:t>app-1 </a:t>
            </a:r>
            <a:r>
              <a:rPr lang="ko-KR" altLang="ko-KR" dirty="0"/>
              <a:t>컨테이너 중지</a:t>
            </a:r>
          </a:p>
          <a:p>
            <a:r>
              <a:rPr lang="en-US" altLang="ko-KR" dirty="0"/>
              <a:t> </a:t>
            </a:r>
            <a:endParaRPr lang="ko-KR" altLang="ko-KR" dirty="0"/>
          </a:p>
          <a:p>
            <a:r>
              <a:rPr lang="en-US" altLang="ko-KR" dirty="0"/>
              <a:t>Prometheus</a:t>
            </a:r>
            <a:endParaRPr lang="ko-KR" altLang="ko-KR" dirty="0"/>
          </a:p>
          <a:p>
            <a:r>
              <a:rPr lang="en-US" altLang="ko-KR" dirty="0"/>
              <a:t> └─ </a:t>
            </a:r>
            <a:r>
              <a:rPr lang="ko-KR" altLang="ko-KR" dirty="0"/>
              <a:t>서비스 다운 감지</a:t>
            </a:r>
          </a:p>
          <a:p>
            <a:r>
              <a:rPr lang="en-US" altLang="ko-KR" dirty="0"/>
              <a:t> </a:t>
            </a:r>
            <a:endParaRPr lang="ko-KR" altLang="ko-KR" dirty="0"/>
          </a:p>
          <a:p>
            <a:r>
              <a:rPr lang="en-US" altLang="ko-KR" dirty="0"/>
              <a:t>ops</a:t>
            </a:r>
            <a:endParaRPr lang="ko-KR" altLang="ko-KR" dirty="0"/>
          </a:p>
          <a:p>
            <a:r>
              <a:rPr lang="en-US" altLang="ko-KR" dirty="0"/>
              <a:t> └─ ansible-playbook </a:t>
            </a:r>
            <a:r>
              <a:rPr lang="en-US" altLang="ko-KR" dirty="0" err="1"/>
              <a:t>recover.yml</a:t>
            </a:r>
            <a:endParaRPr lang="ko-KR" altLang="ko-KR" dirty="0"/>
          </a:p>
          <a:p>
            <a:r>
              <a:rPr lang="en-US" altLang="ko-KR" dirty="0"/>
              <a:t>       ↓</a:t>
            </a:r>
            <a:endParaRPr lang="ko-KR" altLang="ko-KR" dirty="0"/>
          </a:p>
          <a:p>
            <a:r>
              <a:rPr lang="en-US" altLang="ko-KR" dirty="0"/>
              <a:t>   app-1 </a:t>
            </a:r>
            <a:r>
              <a:rPr lang="ko-KR" altLang="ko-KR" dirty="0"/>
              <a:t>컨테이너 </a:t>
            </a:r>
            <a:r>
              <a:rPr lang="ko-KR" altLang="ko-KR" dirty="0" err="1"/>
              <a:t>재기동</a:t>
            </a:r>
            <a:r>
              <a:rPr lang="ko-KR" altLang="ko-KR" dirty="0"/>
              <a:t> </a:t>
            </a:r>
            <a:r>
              <a:rPr lang="en-US" altLang="ko-KR" dirty="0"/>
              <a:t>⭕</a:t>
            </a:r>
          </a:p>
          <a:p>
            <a:endParaRPr lang="ko-KR" altLang="ko-KR" sz="1050" dirty="0"/>
          </a:p>
          <a:p>
            <a:r>
              <a:rPr lang="ko-KR" altLang="en-US" dirty="0"/>
              <a:t>▶ </a:t>
            </a:r>
            <a:r>
              <a:rPr lang="ko-KR" altLang="ko-KR" dirty="0"/>
              <a:t>장애 복구 흐름이 </a:t>
            </a:r>
            <a:r>
              <a:rPr lang="ko-KR" altLang="ko-KR" b="1" dirty="0"/>
              <a:t>눈에 보임</a:t>
            </a:r>
            <a:endParaRPr lang="ko-KR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D54DEF-7478-E746-D39D-2D15B09402A2}"/>
              </a:ext>
            </a:extLst>
          </p:cNvPr>
          <p:cNvSpPr txBox="1"/>
          <p:nvPr/>
        </p:nvSpPr>
        <p:spPr>
          <a:xfrm>
            <a:off x="8026731" y="1691491"/>
            <a:ext cx="4031919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b="1" dirty="0"/>
              <a:t>각 서버에서 무슨 일이 </a:t>
            </a:r>
            <a:r>
              <a:rPr lang="ko-KR" altLang="ko-KR" b="1" dirty="0" err="1"/>
              <a:t>일어나냐면</a:t>
            </a:r>
            <a:endParaRPr lang="ko-KR" altLang="ko-KR" dirty="0"/>
          </a:p>
          <a:p>
            <a:r>
              <a:rPr lang="en-US" altLang="ko-KR" dirty="0"/>
              <a:t>app-1 / app-2</a:t>
            </a:r>
            <a:endParaRPr lang="ko-KR" altLang="ko-KR" dirty="0"/>
          </a:p>
          <a:p>
            <a:r>
              <a:rPr lang="en-US" altLang="ko-KR" dirty="0"/>
              <a:t> └─ </a:t>
            </a:r>
            <a:r>
              <a:rPr lang="en-US" altLang="ko-KR" dirty="0" err="1"/>
              <a:t>node_exporter</a:t>
            </a:r>
            <a:endParaRPr lang="ko-KR" altLang="ko-KR" dirty="0"/>
          </a:p>
          <a:p>
            <a:r>
              <a:rPr lang="en-US" altLang="ko-KR" dirty="0"/>
              <a:t>       ↓ (</a:t>
            </a:r>
            <a:r>
              <a:rPr lang="ko-KR" altLang="ko-KR" dirty="0" err="1"/>
              <a:t>메트릭</a:t>
            </a:r>
            <a:r>
              <a:rPr lang="ko-KR" altLang="ko-KR" dirty="0"/>
              <a:t> 전송</a:t>
            </a:r>
            <a:r>
              <a:rPr lang="en-US" altLang="ko-KR" dirty="0"/>
              <a:t>)</a:t>
            </a:r>
            <a:endParaRPr lang="ko-KR" altLang="ko-KR" dirty="0"/>
          </a:p>
          <a:p>
            <a:r>
              <a:rPr lang="en-US" altLang="ko-KR" dirty="0"/>
              <a:t>ops (Prometheus)</a:t>
            </a:r>
            <a:endParaRPr lang="ko-KR" altLang="ko-KR" dirty="0"/>
          </a:p>
          <a:p>
            <a:r>
              <a:rPr lang="en-US" altLang="ko-KR" dirty="0"/>
              <a:t>       ↓</a:t>
            </a:r>
            <a:endParaRPr lang="ko-KR" altLang="ko-KR" dirty="0"/>
          </a:p>
          <a:p>
            <a:r>
              <a:rPr lang="en-US" altLang="ko-KR" dirty="0"/>
              <a:t>Grafana </a:t>
            </a:r>
            <a:r>
              <a:rPr lang="ko-KR" altLang="ko-KR" dirty="0"/>
              <a:t>대시보드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b="1" dirty="0"/>
              <a:t>운영자는</a:t>
            </a:r>
            <a:r>
              <a:rPr lang="en-US" altLang="ko-KR" b="1" dirty="0"/>
              <a:t> ops</a:t>
            </a:r>
            <a:r>
              <a:rPr lang="ko-KR" altLang="ko-KR" b="1" dirty="0"/>
              <a:t>에서</a:t>
            </a:r>
            <a:r>
              <a:rPr lang="en-US" altLang="ko-KR" b="1" dirty="0"/>
              <a:t>:</a:t>
            </a:r>
            <a:endParaRPr lang="ko-KR" altLang="ko-KR" b="1" dirty="0"/>
          </a:p>
          <a:p>
            <a:pPr lvl="0"/>
            <a:r>
              <a:rPr lang="en-US" altLang="ko-KR" dirty="0"/>
              <a:t>CPU </a:t>
            </a:r>
            <a:r>
              <a:rPr lang="ko-KR" altLang="ko-KR" dirty="0"/>
              <a:t>사용량</a:t>
            </a:r>
          </a:p>
          <a:p>
            <a:pPr lvl="0"/>
            <a:r>
              <a:rPr lang="ko-KR" altLang="ko-KR" dirty="0"/>
              <a:t>메모리</a:t>
            </a:r>
          </a:p>
          <a:p>
            <a:pPr lvl="0"/>
            <a:r>
              <a:rPr lang="ko-KR" altLang="ko-KR" dirty="0"/>
              <a:t>컨테이너 상태를 </a:t>
            </a:r>
            <a:r>
              <a:rPr lang="ko-KR" altLang="ko-KR" b="1" dirty="0"/>
              <a:t>한 화면에서 확인</a:t>
            </a:r>
            <a:endParaRPr lang="ko-KR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C5D24C-DBD5-9868-C270-559385B9214D}"/>
              </a:ext>
            </a:extLst>
          </p:cNvPr>
          <p:cNvSpPr txBox="1"/>
          <p:nvPr/>
        </p:nvSpPr>
        <p:spPr>
          <a:xfrm>
            <a:off x="1729800" y="5797365"/>
            <a:ext cx="850379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서버와 운영 서버를 분리하여 운영 작업을 중앙 </a:t>
            </a:r>
            <a:r>
              <a:rPr lang="ko-KR" altLang="en-US" b="1" dirty="0" err="1"/>
              <a:t>집중화하였고</a:t>
            </a:r>
            <a:r>
              <a:rPr lang="en-US" altLang="ko-KR" b="1" dirty="0"/>
              <a:t>, </a:t>
            </a:r>
            <a:br>
              <a:rPr lang="en-US" altLang="ko-KR" b="1" dirty="0"/>
            </a:br>
            <a:r>
              <a:rPr lang="ko-KR" altLang="en-US" b="1" dirty="0"/>
              <a:t>다중 서비스 서버 환경에서의 자동화 및 장애 대응 구조를 검증</a:t>
            </a:r>
            <a:endParaRPr lang="ko-KR" altLang="ko-KR" b="1" dirty="0"/>
          </a:p>
        </p:txBody>
      </p:sp>
    </p:spTree>
    <p:extLst>
      <p:ext uri="{BB962C8B-B14F-4D97-AF65-F5344CB8AC3E}">
        <p14:creationId xmlns:p14="http://schemas.microsoft.com/office/powerpoint/2010/main" val="1504943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2AC20-AC43-E71C-2773-269E4E988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963B5C65-D7A1-EA5E-128B-D9673FBA63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58" b="97104" l="10000" r="90000">
                        <a14:foregroundMark x1="50000" y1="8687" x2="53000" y2="16023"/>
                        <a14:foregroundMark x1="87250" y1="21815" x2="60750" y2="30309"/>
                        <a14:foregroundMark x1="87000" y1="18919" x2="87750" y2="23166"/>
                        <a14:foregroundMark x1="87750" y1="18340" x2="87000" y2="18340"/>
                        <a14:foregroundMark x1="89250" y1="19305" x2="89500" y2="19884"/>
                        <a14:foregroundMark x1="50250" y1="1544" x2="50250" y2="1544"/>
                        <a14:foregroundMark x1="52250" y1="3282" x2="53500" y2="4440"/>
                        <a14:foregroundMark x1="50500" y1="90154" x2="50500" y2="65830"/>
                        <a14:foregroundMark x1="45500" y1="97104" x2="49000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837"/>
          <a:stretch/>
        </p:blipFill>
        <p:spPr bwMode="auto">
          <a:xfrm>
            <a:off x="10930271" y="3885810"/>
            <a:ext cx="1293628" cy="25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6FB14F-7E3D-901F-931E-72BC79D8E8B3}"/>
              </a:ext>
            </a:extLst>
          </p:cNvPr>
          <p:cNvSpPr txBox="1"/>
          <p:nvPr/>
        </p:nvSpPr>
        <p:spPr>
          <a:xfrm>
            <a:off x="295349" y="283185"/>
            <a:ext cx="117369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1. This week (02/04~02/08) </a:t>
            </a:r>
            <a:r>
              <a:rPr lang="en-US" altLang="ko-KR" sz="2800" b="1" dirty="0">
                <a:latin typeface="+mj-ea"/>
                <a:ea typeface="+mj-ea"/>
              </a:rPr>
              <a:t>- </a:t>
            </a:r>
            <a:r>
              <a:rPr lang="ko-KR" altLang="en-US" sz="2800" b="1" dirty="0">
                <a:latin typeface="+mj-ea"/>
                <a:ea typeface="+mj-ea"/>
              </a:rPr>
              <a:t>서버준비 및</a:t>
            </a:r>
            <a:r>
              <a:rPr lang="en-US" altLang="ko-KR" sz="2800" b="1" dirty="0">
                <a:latin typeface="+mj-ea"/>
                <a:ea typeface="+mj-ea"/>
              </a:rPr>
              <a:t> </a:t>
            </a:r>
            <a:r>
              <a:rPr lang="ko-KR" altLang="en-US" sz="2800" b="1" dirty="0" err="1">
                <a:latin typeface="+mj-ea"/>
                <a:ea typeface="+mj-ea"/>
              </a:rPr>
              <a:t>기본세팅</a:t>
            </a:r>
            <a:endParaRPr lang="en-US" altLang="ko-KR" sz="4800" b="1" dirty="0">
              <a:latin typeface="+mj-ea"/>
              <a:ea typeface="+mj-ea"/>
            </a:endParaRPr>
          </a:p>
        </p:txBody>
      </p:sp>
      <p:sp>
        <p:nvSpPr>
          <p:cNvPr id="3" name="사각형: 잘린 한쪽 모서리 2">
            <a:extLst>
              <a:ext uri="{FF2B5EF4-FFF2-40B4-BE49-F238E27FC236}">
                <a16:creationId xmlns:a16="http://schemas.microsoft.com/office/drawing/2014/main" id="{508CFF13-81E5-0EAC-4402-FA3F7DF134CB}"/>
              </a:ext>
            </a:extLst>
          </p:cNvPr>
          <p:cNvSpPr/>
          <p:nvPr/>
        </p:nvSpPr>
        <p:spPr>
          <a:xfrm>
            <a:off x="654493" y="1246372"/>
            <a:ext cx="10243879" cy="5179587"/>
          </a:xfrm>
          <a:prstGeom prst="snip1Rect">
            <a:avLst/>
          </a:prstGeom>
          <a:solidFill>
            <a:schemeClr val="bg1"/>
          </a:solidFill>
          <a:ln w="76200">
            <a:solidFill>
              <a:srgbClr val="D02F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>
              <a:spcAft>
                <a:spcPts val="300"/>
              </a:spcAft>
            </a:pPr>
            <a:r>
              <a:rPr lang="ko-KR" altLang="en-US" b="1" dirty="0">
                <a:solidFill>
                  <a:schemeClr val="tx1"/>
                </a:solidFill>
              </a:rPr>
              <a:t>목표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팀별 학습과 환경 준비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Terraform</a:t>
            </a:r>
            <a:r>
              <a:rPr lang="ko-KR" altLang="en-US" dirty="0">
                <a:solidFill>
                  <a:schemeClr val="tx1"/>
                </a:solidFill>
              </a:rPr>
              <a:t>으로 </a:t>
            </a:r>
            <a:r>
              <a:rPr lang="en-US" altLang="ko-KR" dirty="0">
                <a:solidFill>
                  <a:schemeClr val="tx1"/>
                </a:solidFill>
              </a:rPr>
              <a:t>EC2 3</a:t>
            </a:r>
            <a:r>
              <a:rPr lang="ko-KR" altLang="en-US" dirty="0">
                <a:solidFill>
                  <a:schemeClr val="tx1"/>
                </a:solidFill>
              </a:rPr>
              <a:t>대 생성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Ansible</a:t>
            </a:r>
            <a:r>
              <a:rPr lang="ko-KR" altLang="en-US" dirty="0">
                <a:solidFill>
                  <a:schemeClr val="tx1"/>
                </a:solidFill>
              </a:rPr>
              <a:t>로 기본 접속 확인 </a:t>
            </a:r>
            <a:r>
              <a:rPr lang="en-US" altLang="ko-KR" dirty="0">
                <a:solidFill>
                  <a:schemeClr val="tx1"/>
                </a:solidFill>
              </a:rPr>
              <a:t>+ Linux</a:t>
            </a:r>
            <a:r>
              <a:rPr lang="ko-KR" altLang="en-US" dirty="0">
                <a:solidFill>
                  <a:schemeClr val="tx1"/>
                </a:solidFill>
              </a:rPr>
              <a:t> 업데이트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자동화 배포나 모니터링 테스트 전에 서버 환경을 깨끗하게 초기화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r>
              <a:rPr lang="ko-KR" altLang="en-US" b="1" dirty="0">
                <a:solidFill>
                  <a:schemeClr val="tx1"/>
                </a:solidFill>
              </a:rPr>
              <a:t>체크 포인트 </a:t>
            </a:r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en-US" altLang="ko-KR" dirty="0" err="1">
                <a:solidFill>
                  <a:schemeClr val="tx1"/>
                </a:solidFill>
              </a:rPr>
              <a:t>Terrform</a:t>
            </a:r>
            <a:r>
              <a:rPr lang="en-US" altLang="ko-KR" dirty="0">
                <a:solidFill>
                  <a:schemeClr val="tx1"/>
                </a:solidFill>
              </a:rPr>
              <a:t> apply </a:t>
            </a:r>
            <a:r>
              <a:rPr lang="ko-KR" altLang="en-US" dirty="0">
                <a:solidFill>
                  <a:schemeClr val="tx1"/>
                </a:solidFill>
              </a:rPr>
              <a:t>성공</a:t>
            </a:r>
            <a:r>
              <a:rPr lang="en-US" altLang="ko-KR" dirty="0">
                <a:solidFill>
                  <a:schemeClr val="tx1"/>
                </a:solidFill>
              </a:rPr>
              <a:t> / 2. Ansible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ping </a:t>
            </a:r>
            <a:r>
              <a:rPr lang="ko-KR" altLang="en-US" dirty="0">
                <a:solidFill>
                  <a:schemeClr val="tx1"/>
                </a:solidFill>
              </a:rPr>
              <a:t>성공 </a:t>
            </a:r>
            <a:r>
              <a:rPr lang="en-US" altLang="ko-KR" dirty="0">
                <a:solidFill>
                  <a:schemeClr val="tx1"/>
                </a:solidFill>
              </a:rPr>
              <a:t>/ 3. </a:t>
            </a:r>
            <a:r>
              <a:rPr lang="ko-KR" altLang="en-US" dirty="0">
                <a:solidFill>
                  <a:schemeClr val="tx1"/>
                </a:solidFill>
              </a:rPr>
              <a:t>서버 기본 업데이트 가능</a:t>
            </a:r>
          </a:p>
          <a:p>
            <a:pPr marL="108000" algn="ctr">
              <a:spcAft>
                <a:spcPts val="300"/>
              </a:spcAft>
            </a:pPr>
            <a:endParaRPr lang="ko-KR" altLang="ko-KR" dirty="0">
              <a:solidFill>
                <a:schemeClr val="tx1"/>
              </a:solidFill>
            </a:endParaRPr>
          </a:p>
          <a:p>
            <a:pPr marL="108000" algn="ctr">
              <a:spcAft>
                <a:spcPts val="300"/>
              </a:spcAft>
            </a:pP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1147A12-F9D9-38CA-E5A5-657911A0D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27580"/>
              </p:ext>
            </p:extLst>
          </p:nvPr>
        </p:nvGraphicFramePr>
        <p:xfrm>
          <a:off x="838199" y="2757716"/>
          <a:ext cx="9452429" cy="2927245"/>
        </p:xfrm>
        <a:graphic>
          <a:graphicData uri="http://schemas.openxmlformats.org/drawingml/2006/table">
            <a:tbl>
              <a:tblPr>
                <a:tableStyleId>{D03447BB-5D67-496B-8E87-E561075AD55C}</a:tableStyleId>
              </a:tblPr>
              <a:tblGrid>
                <a:gridCol w="1410645">
                  <a:extLst>
                    <a:ext uri="{9D8B030D-6E8A-4147-A177-3AD203B41FA5}">
                      <a16:colId xmlns:a16="http://schemas.microsoft.com/office/drawing/2014/main" val="4078470016"/>
                    </a:ext>
                  </a:extLst>
                </a:gridCol>
                <a:gridCol w="3495139">
                  <a:extLst>
                    <a:ext uri="{9D8B030D-6E8A-4147-A177-3AD203B41FA5}">
                      <a16:colId xmlns:a16="http://schemas.microsoft.com/office/drawing/2014/main" val="4163306731"/>
                    </a:ext>
                  </a:extLst>
                </a:gridCol>
                <a:gridCol w="2183538">
                  <a:extLst>
                    <a:ext uri="{9D8B030D-6E8A-4147-A177-3AD203B41FA5}">
                      <a16:colId xmlns:a16="http://schemas.microsoft.com/office/drawing/2014/main" val="2769670297"/>
                    </a:ext>
                  </a:extLst>
                </a:gridCol>
                <a:gridCol w="2363107">
                  <a:extLst>
                    <a:ext uri="{9D8B030D-6E8A-4147-A177-3AD203B41FA5}">
                      <a16:colId xmlns:a16="http://schemas.microsoft.com/office/drawing/2014/main" val="1844683208"/>
                    </a:ext>
                  </a:extLst>
                </a:gridCol>
              </a:tblGrid>
              <a:tr h="338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할 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도구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산출물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315350"/>
                  </a:ext>
                </a:extLst>
              </a:tr>
              <a:tr h="812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인프라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EC2 2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app-1, app-2) + 1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ops)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생성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public IP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Terraform, AWS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Terraform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코드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EC2 IP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목록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483352"/>
                  </a:ext>
                </a:extLst>
              </a:tr>
              <a:tr h="964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서버 자동화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Ansible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ops → app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서버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ping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테스트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기본 패키지 업데이트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Ansible, SSH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inventory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파일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ping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테스트 성공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2938107"/>
                  </a:ext>
                </a:extLst>
              </a:tr>
              <a:tr h="812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모니터링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Prometheus/Grafana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설치 준비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node_exporter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서버 상태를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Prometheus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로 보내주는 역할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설치 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Prometheus, Grafana, Linux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설치 계획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node_exporter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설치 테스트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2206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407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38038-CAE4-ABD5-3CB7-070DEA1F0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FB5FBC49-61D1-7B59-DF1F-BDF2FED189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58" b="97104" l="10000" r="90000">
                        <a14:foregroundMark x1="50000" y1="8687" x2="53000" y2="16023"/>
                        <a14:foregroundMark x1="87250" y1="21815" x2="60750" y2="30309"/>
                        <a14:foregroundMark x1="87000" y1="18919" x2="87750" y2="23166"/>
                        <a14:foregroundMark x1="87750" y1="18340" x2="87000" y2="18340"/>
                        <a14:foregroundMark x1="89250" y1="19305" x2="89500" y2="19884"/>
                        <a14:foregroundMark x1="50250" y1="1544" x2="50250" y2="1544"/>
                        <a14:foregroundMark x1="52250" y1="3282" x2="53500" y2="4440"/>
                        <a14:foregroundMark x1="50500" y1="90154" x2="50500" y2="65830"/>
                        <a14:foregroundMark x1="45500" y1="97104" x2="49000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837"/>
          <a:stretch/>
        </p:blipFill>
        <p:spPr bwMode="auto">
          <a:xfrm>
            <a:off x="10930271" y="3885810"/>
            <a:ext cx="1293628" cy="25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F26E5C-3D32-720A-C60B-0D40B96035E0}"/>
              </a:ext>
            </a:extLst>
          </p:cNvPr>
          <p:cNvSpPr txBox="1"/>
          <p:nvPr/>
        </p:nvSpPr>
        <p:spPr>
          <a:xfrm>
            <a:off x="295349" y="283185"/>
            <a:ext cx="117369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Second week (02/09~02/15)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서비스 배포 및 장애 복구</a:t>
            </a:r>
            <a:endParaRPr lang="ko-KR" altLang="en-US" sz="4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endParaRPr lang="ko-KR" altLang="en-US" sz="48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3" name="사각형: 잘린 한쪽 모서리 2">
            <a:extLst>
              <a:ext uri="{FF2B5EF4-FFF2-40B4-BE49-F238E27FC236}">
                <a16:creationId xmlns:a16="http://schemas.microsoft.com/office/drawing/2014/main" id="{8A77222C-1055-1562-5B7B-CEEC4D4701E8}"/>
              </a:ext>
            </a:extLst>
          </p:cNvPr>
          <p:cNvSpPr/>
          <p:nvPr/>
        </p:nvSpPr>
        <p:spPr>
          <a:xfrm>
            <a:off x="654493" y="1246372"/>
            <a:ext cx="10243879" cy="5179587"/>
          </a:xfrm>
          <a:prstGeom prst="snip1Rect">
            <a:avLst/>
          </a:prstGeom>
          <a:solidFill>
            <a:schemeClr val="bg1"/>
          </a:solidFill>
          <a:ln w="76200">
            <a:solidFill>
              <a:srgbClr val="D02F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>
              <a:spcAft>
                <a:spcPts val="300"/>
              </a:spcAft>
            </a:pPr>
            <a:r>
              <a:rPr lang="ko-KR" altLang="en-US" b="1" dirty="0">
                <a:solidFill>
                  <a:schemeClr val="tx1"/>
                </a:solidFill>
              </a:rPr>
              <a:t>목표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점심 </a:t>
            </a:r>
            <a:r>
              <a:rPr lang="ko-KR" altLang="en-US" dirty="0" err="1">
                <a:solidFill>
                  <a:schemeClr val="tx1"/>
                </a:solidFill>
              </a:rPr>
              <a:t>룰렛</a:t>
            </a:r>
            <a:r>
              <a:rPr lang="ko-KR" altLang="en-US" dirty="0">
                <a:solidFill>
                  <a:schemeClr val="tx1"/>
                </a:solidFill>
              </a:rPr>
              <a:t> 서비스 자동 배포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장애 재현 </a:t>
            </a:r>
            <a:r>
              <a:rPr lang="en-US" altLang="ko-KR" dirty="0">
                <a:solidFill>
                  <a:schemeClr val="tx1"/>
                </a:solidFill>
              </a:rPr>
              <a:t>+ </a:t>
            </a:r>
            <a:r>
              <a:rPr lang="en-US" altLang="ko-KR" dirty="0" err="1">
                <a:solidFill>
                  <a:schemeClr val="tx1"/>
                </a:solidFill>
              </a:rPr>
              <a:t>Anisble</a:t>
            </a:r>
            <a:r>
              <a:rPr lang="ko-KR" altLang="en-US" dirty="0">
                <a:solidFill>
                  <a:schemeClr val="tx1"/>
                </a:solidFill>
              </a:rPr>
              <a:t>로 자동 복구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r>
              <a:rPr lang="ko-KR" altLang="en-US" b="1" dirty="0">
                <a:solidFill>
                  <a:schemeClr val="tx1"/>
                </a:solidFill>
              </a:rPr>
              <a:t>체크 포인트 </a:t>
            </a:r>
            <a:r>
              <a:rPr lang="en-US" altLang="ko-KR" dirty="0">
                <a:solidFill>
                  <a:schemeClr val="tx1"/>
                </a:solidFill>
              </a:rPr>
              <a:t>1. Docker </a:t>
            </a:r>
            <a:r>
              <a:rPr lang="ko-KR" altLang="en-US" dirty="0">
                <a:solidFill>
                  <a:schemeClr val="tx1"/>
                </a:solidFill>
              </a:rPr>
              <a:t>컨테이너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대 서버에 정상 배포 </a:t>
            </a:r>
            <a:r>
              <a:rPr lang="en-US" altLang="ko-KR" dirty="0">
                <a:solidFill>
                  <a:schemeClr val="tx1"/>
                </a:solidFill>
              </a:rPr>
              <a:t>/ 2. </a:t>
            </a:r>
            <a:r>
              <a:rPr lang="ko-KR" altLang="en-US" dirty="0">
                <a:solidFill>
                  <a:schemeClr val="tx1"/>
                </a:solidFill>
              </a:rPr>
              <a:t>장애 재현 후 </a:t>
            </a:r>
            <a:r>
              <a:rPr lang="en-US" altLang="ko-KR" dirty="0">
                <a:solidFill>
                  <a:schemeClr val="tx1"/>
                </a:solidFill>
              </a:rPr>
              <a:t>ansible-playbook </a:t>
            </a:r>
            <a:r>
              <a:rPr lang="en-US" altLang="ko-KR" dirty="0" err="1">
                <a:solidFill>
                  <a:schemeClr val="tx1"/>
                </a:solidFill>
              </a:rPr>
              <a:t>recover.yml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실행 시 복구 </a:t>
            </a:r>
            <a:r>
              <a:rPr lang="en-US" altLang="ko-KR" dirty="0">
                <a:solidFill>
                  <a:schemeClr val="tx1"/>
                </a:solidFill>
              </a:rPr>
              <a:t>/ 3. </a:t>
            </a:r>
            <a:r>
              <a:rPr lang="ko-KR" altLang="en-US" dirty="0">
                <a:solidFill>
                  <a:schemeClr val="tx1"/>
                </a:solidFill>
              </a:rPr>
              <a:t>대시보드에서 서비스 상태 확인 가능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5FFEAAD-FD59-E1F6-CF40-9FFE75178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199048"/>
              </p:ext>
            </p:extLst>
          </p:nvPr>
        </p:nvGraphicFramePr>
        <p:xfrm>
          <a:off x="912331" y="2921961"/>
          <a:ext cx="9523440" cy="2249282"/>
        </p:xfrm>
        <a:graphic>
          <a:graphicData uri="http://schemas.openxmlformats.org/drawingml/2006/table">
            <a:tbl>
              <a:tblPr>
                <a:tableStyleId>{D03447BB-5D67-496B-8E87-E561075AD55C}</a:tableStyleId>
              </a:tblPr>
              <a:tblGrid>
                <a:gridCol w="1469563">
                  <a:extLst>
                    <a:ext uri="{9D8B030D-6E8A-4147-A177-3AD203B41FA5}">
                      <a16:colId xmlns:a16="http://schemas.microsoft.com/office/drawing/2014/main" val="2691427370"/>
                    </a:ext>
                  </a:extLst>
                </a:gridCol>
                <a:gridCol w="3145699">
                  <a:extLst>
                    <a:ext uri="{9D8B030D-6E8A-4147-A177-3AD203B41FA5}">
                      <a16:colId xmlns:a16="http://schemas.microsoft.com/office/drawing/2014/main" val="2775094218"/>
                    </a:ext>
                  </a:extLst>
                </a:gridCol>
                <a:gridCol w="2454089">
                  <a:extLst>
                    <a:ext uri="{9D8B030D-6E8A-4147-A177-3AD203B41FA5}">
                      <a16:colId xmlns:a16="http://schemas.microsoft.com/office/drawing/2014/main" val="680582846"/>
                    </a:ext>
                  </a:extLst>
                </a:gridCol>
                <a:gridCol w="2454089">
                  <a:extLst>
                    <a:ext uri="{9D8B030D-6E8A-4147-A177-3AD203B41FA5}">
                      <a16:colId xmlns:a16="http://schemas.microsoft.com/office/drawing/2014/main" val="87546108"/>
                    </a:ext>
                  </a:extLst>
                </a:gridCol>
              </a:tblGrid>
              <a:tr h="368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할 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도구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산출물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8101420"/>
                  </a:ext>
                </a:extLst>
              </a:tr>
              <a:tr h="626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인프라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EC2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유지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필요 시 인스턴스 스펙 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Terraform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변경사항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172673"/>
                  </a:ext>
                </a:extLst>
              </a:tr>
              <a:tr h="626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서버 자동화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Docker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설치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컨테이너 배포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장애 재현 후 복구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Playbook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Ansible, 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deploy.yml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recover.yml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br>
                        <a:rPr lang="en-US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플레이북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424612"/>
                  </a:ext>
                </a:extLst>
              </a:tr>
              <a:tr h="626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모니터링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node_exporter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로 서버 지표 수집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, Grafana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대시보드 기본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Prometheus, Grafana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CPU, Memory, Container </a:t>
                      </a:r>
                      <a:br>
                        <a:rPr lang="en-US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상태 대시보드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8917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0517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1E93D-D1C6-2F9B-FE75-D7D801D1C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EE493B15-699B-AA8B-A0D6-1316499867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58" b="97104" l="10000" r="90000">
                        <a14:foregroundMark x1="50000" y1="8687" x2="53000" y2="16023"/>
                        <a14:foregroundMark x1="87250" y1="21815" x2="60750" y2="30309"/>
                        <a14:foregroundMark x1="87000" y1="18919" x2="87750" y2="23166"/>
                        <a14:foregroundMark x1="87750" y1="18340" x2="87000" y2="18340"/>
                        <a14:foregroundMark x1="89250" y1="19305" x2="89500" y2="19884"/>
                        <a14:foregroundMark x1="50250" y1="1544" x2="50250" y2="1544"/>
                        <a14:foregroundMark x1="52250" y1="3282" x2="53500" y2="4440"/>
                        <a14:foregroundMark x1="50500" y1="90154" x2="50500" y2="65830"/>
                        <a14:foregroundMark x1="45500" y1="97104" x2="49000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837"/>
          <a:stretch/>
        </p:blipFill>
        <p:spPr bwMode="auto">
          <a:xfrm>
            <a:off x="10930271" y="3885810"/>
            <a:ext cx="1293628" cy="25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BEFB0A-65CD-C17D-3DE7-30A3DC172201}"/>
              </a:ext>
            </a:extLst>
          </p:cNvPr>
          <p:cNvSpPr txBox="1"/>
          <p:nvPr/>
        </p:nvSpPr>
        <p:spPr>
          <a:xfrm>
            <a:off x="295350" y="283185"/>
            <a:ext cx="11896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3.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Third week (02/16~02/22)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>
                <a:latin typeface="+mj-ea"/>
                <a:ea typeface="+mj-ea"/>
              </a:rPr>
              <a:t>모니터 및 지표 </a:t>
            </a:r>
            <a:r>
              <a:rPr lang="en-US" altLang="ko-KR" sz="2000" b="1" dirty="0">
                <a:latin typeface="+mj-ea"/>
                <a:ea typeface="+mj-ea"/>
              </a:rPr>
              <a:t>&amp; </a:t>
            </a:r>
            <a:r>
              <a:rPr lang="ko-KR" altLang="en-US" sz="2000" b="1" dirty="0">
                <a:latin typeface="+mj-ea"/>
                <a:ea typeface="+mj-ea"/>
              </a:rPr>
              <a:t>장애 연계</a:t>
            </a:r>
            <a:endParaRPr lang="ko-KR" altLang="en-US" sz="2400" b="1" dirty="0">
              <a:latin typeface="+mj-ea"/>
              <a:ea typeface="+mj-ea"/>
            </a:endParaRPr>
          </a:p>
        </p:txBody>
      </p:sp>
      <p:sp>
        <p:nvSpPr>
          <p:cNvPr id="3" name="사각형: 잘린 한쪽 모서리 2">
            <a:extLst>
              <a:ext uri="{FF2B5EF4-FFF2-40B4-BE49-F238E27FC236}">
                <a16:creationId xmlns:a16="http://schemas.microsoft.com/office/drawing/2014/main" id="{6AF4E235-4DE2-BF47-AC3F-622D6C61634B}"/>
              </a:ext>
            </a:extLst>
          </p:cNvPr>
          <p:cNvSpPr/>
          <p:nvPr/>
        </p:nvSpPr>
        <p:spPr>
          <a:xfrm>
            <a:off x="654493" y="1246372"/>
            <a:ext cx="10243879" cy="5179587"/>
          </a:xfrm>
          <a:prstGeom prst="snip1Rect">
            <a:avLst/>
          </a:prstGeom>
          <a:solidFill>
            <a:schemeClr val="bg1"/>
          </a:solidFill>
          <a:ln w="76200">
            <a:solidFill>
              <a:srgbClr val="D02F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>
              <a:spcAft>
                <a:spcPts val="300"/>
              </a:spcAft>
            </a:pPr>
            <a:r>
              <a:rPr lang="ko-KR" altLang="en-US" b="1" dirty="0">
                <a:solidFill>
                  <a:schemeClr val="tx1"/>
                </a:solidFill>
              </a:rPr>
              <a:t>목표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모니터링 지표를 통해 장애 감지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자동화 복구와 지표 연계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r>
              <a:rPr lang="ko-KR" altLang="en-US" b="1" dirty="0">
                <a:solidFill>
                  <a:schemeClr val="tx1"/>
                </a:solidFill>
              </a:rPr>
              <a:t>체크 포인트 </a:t>
            </a:r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장애 발생 </a:t>
            </a:r>
            <a:r>
              <a:rPr lang="en-US" altLang="ko-KR" dirty="0">
                <a:solidFill>
                  <a:schemeClr val="tx1"/>
                </a:solidFill>
              </a:rPr>
              <a:t>-&gt; Grafana</a:t>
            </a:r>
            <a:r>
              <a:rPr lang="ko-KR" altLang="en-US" dirty="0">
                <a:solidFill>
                  <a:schemeClr val="tx1"/>
                </a:solidFill>
              </a:rPr>
              <a:t>에서 즉시 확인 </a:t>
            </a:r>
            <a:r>
              <a:rPr lang="en-US" altLang="ko-KR" dirty="0">
                <a:solidFill>
                  <a:schemeClr val="tx1"/>
                </a:solidFill>
              </a:rPr>
              <a:t>/ 2. Ansible </a:t>
            </a:r>
            <a:r>
              <a:rPr lang="ko-KR" altLang="en-US" dirty="0">
                <a:solidFill>
                  <a:schemeClr val="tx1"/>
                </a:solidFill>
              </a:rPr>
              <a:t>복구 </a:t>
            </a:r>
            <a:r>
              <a:rPr lang="en-US" altLang="ko-KR" dirty="0">
                <a:solidFill>
                  <a:schemeClr val="tx1"/>
                </a:solidFill>
              </a:rPr>
              <a:t>-&gt; </a:t>
            </a:r>
            <a:r>
              <a:rPr lang="ko-KR" altLang="en-US" dirty="0">
                <a:solidFill>
                  <a:schemeClr val="tx1"/>
                </a:solidFill>
              </a:rPr>
              <a:t>지표 정상 회복</a:t>
            </a:r>
            <a:r>
              <a:rPr lang="en-US" altLang="ko-KR" dirty="0">
                <a:solidFill>
                  <a:schemeClr val="tx1"/>
                </a:solidFill>
              </a:rPr>
              <a:t>/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3. </a:t>
            </a:r>
            <a:r>
              <a:rPr lang="ko-KR" altLang="en-US" dirty="0">
                <a:solidFill>
                  <a:schemeClr val="tx1"/>
                </a:solidFill>
              </a:rPr>
              <a:t>자동화 </a:t>
            </a:r>
            <a:r>
              <a:rPr lang="en-US" altLang="ko-KR" dirty="0">
                <a:solidFill>
                  <a:schemeClr val="tx1"/>
                </a:solidFill>
              </a:rPr>
              <a:t>+ </a:t>
            </a:r>
            <a:r>
              <a:rPr lang="ko-KR" altLang="en-US" dirty="0">
                <a:solidFill>
                  <a:schemeClr val="tx1"/>
                </a:solidFill>
              </a:rPr>
              <a:t>모니터링 효과 증거 확보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214AE9D-4B70-DA5C-5D93-2E2014FBD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036332"/>
              </p:ext>
            </p:extLst>
          </p:nvPr>
        </p:nvGraphicFramePr>
        <p:xfrm>
          <a:off x="838200" y="2627086"/>
          <a:ext cx="9583057" cy="2743199"/>
        </p:xfrm>
        <a:graphic>
          <a:graphicData uri="http://schemas.openxmlformats.org/drawingml/2006/table">
            <a:tbl>
              <a:tblPr>
                <a:tableStyleId>{D03447BB-5D67-496B-8E87-E561075AD55C}</a:tableStyleId>
              </a:tblPr>
              <a:tblGrid>
                <a:gridCol w="1318943">
                  <a:extLst>
                    <a:ext uri="{9D8B030D-6E8A-4147-A177-3AD203B41FA5}">
                      <a16:colId xmlns:a16="http://schemas.microsoft.com/office/drawing/2014/main" val="2437079082"/>
                    </a:ext>
                  </a:extLst>
                </a:gridCol>
                <a:gridCol w="2765373">
                  <a:extLst>
                    <a:ext uri="{9D8B030D-6E8A-4147-A177-3AD203B41FA5}">
                      <a16:colId xmlns:a16="http://schemas.microsoft.com/office/drawing/2014/main" val="1597794188"/>
                    </a:ext>
                  </a:extLst>
                </a:gridCol>
                <a:gridCol w="2566855">
                  <a:extLst>
                    <a:ext uri="{9D8B030D-6E8A-4147-A177-3AD203B41FA5}">
                      <a16:colId xmlns:a16="http://schemas.microsoft.com/office/drawing/2014/main" val="596604952"/>
                    </a:ext>
                  </a:extLst>
                </a:gridCol>
                <a:gridCol w="2931886">
                  <a:extLst>
                    <a:ext uri="{9D8B030D-6E8A-4147-A177-3AD203B41FA5}">
                      <a16:colId xmlns:a16="http://schemas.microsoft.com/office/drawing/2014/main" val="203833105"/>
                    </a:ext>
                  </a:extLst>
                </a:gridCol>
              </a:tblGrid>
              <a:tr h="449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할 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도구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산출물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8112797"/>
                  </a:ext>
                </a:extLst>
              </a:tr>
              <a:tr h="764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인프라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EC2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유지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모니터링 대상 서버 상태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Terraform, AWS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서버 상태 보고서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2476956"/>
                  </a:ext>
                </a:extLst>
              </a:tr>
              <a:tr h="764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서버 자동화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장애 재현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복구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복구 후 상태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Ansible, 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장애 시연 영상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887070"/>
                  </a:ext>
                </a:extLst>
              </a:tr>
              <a:tr h="764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모니터링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Prometheus/Grafana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대시보드 완성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알람 테스트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Prometheus, Grafana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CPU/Memory/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서비스 상태 시각화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장애 감지 테스트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2050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694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A6D3A-BA60-3D57-E79B-CA23172E0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A7EBE28-A43E-4873-0FEE-1EA5651B94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58" b="97104" l="10000" r="90000">
                        <a14:foregroundMark x1="50000" y1="8687" x2="53000" y2="16023"/>
                        <a14:foregroundMark x1="87250" y1="21815" x2="60750" y2="30309"/>
                        <a14:foregroundMark x1="87000" y1="18919" x2="87750" y2="23166"/>
                        <a14:foregroundMark x1="87750" y1="18340" x2="87000" y2="18340"/>
                        <a14:foregroundMark x1="89250" y1="19305" x2="89500" y2="19884"/>
                        <a14:foregroundMark x1="50250" y1="1544" x2="50250" y2="1544"/>
                        <a14:foregroundMark x1="52250" y1="3282" x2="53500" y2="4440"/>
                        <a14:foregroundMark x1="50500" y1="90154" x2="50500" y2="65830"/>
                        <a14:foregroundMark x1="45500" y1="97104" x2="49000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837"/>
          <a:stretch/>
        </p:blipFill>
        <p:spPr bwMode="auto">
          <a:xfrm>
            <a:off x="10930271" y="3885810"/>
            <a:ext cx="1293628" cy="25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1A17F2-7DE5-8360-1CE3-EA8F696FBCEE}"/>
              </a:ext>
            </a:extLst>
          </p:cNvPr>
          <p:cNvSpPr txBox="1"/>
          <p:nvPr/>
        </p:nvSpPr>
        <p:spPr>
          <a:xfrm>
            <a:off x="295350" y="283185"/>
            <a:ext cx="11896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4.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Final week (02/23~03/01) </a:t>
            </a:r>
            <a:r>
              <a:rPr lang="en-US" altLang="ko-KR" sz="2400" b="1" dirty="0">
                <a:latin typeface="+mj-ea"/>
                <a:ea typeface="+mj-ea"/>
              </a:rPr>
              <a:t>– K8s</a:t>
            </a:r>
            <a:r>
              <a:rPr lang="ko-KR" altLang="en-US" sz="2400" b="1" dirty="0">
                <a:latin typeface="+mj-ea"/>
                <a:ea typeface="+mj-ea"/>
              </a:rPr>
              <a:t> 전환 및 비용 최적화</a:t>
            </a:r>
            <a:r>
              <a:rPr lang="en-US" altLang="ko-KR" sz="2400" b="1" dirty="0">
                <a:latin typeface="+mj-ea"/>
                <a:ea typeface="+mj-ea"/>
              </a:rPr>
              <a:t> </a:t>
            </a:r>
            <a:endParaRPr lang="ko-KR" altLang="en-US" sz="2400" b="1" dirty="0">
              <a:latin typeface="+mj-ea"/>
              <a:ea typeface="+mj-ea"/>
            </a:endParaRPr>
          </a:p>
        </p:txBody>
      </p:sp>
      <p:sp>
        <p:nvSpPr>
          <p:cNvPr id="3" name="사각형: 잘린 한쪽 모서리 2">
            <a:extLst>
              <a:ext uri="{FF2B5EF4-FFF2-40B4-BE49-F238E27FC236}">
                <a16:creationId xmlns:a16="http://schemas.microsoft.com/office/drawing/2014/main" id="{4DB1A543-80A8-8CB9-F0DC-CF6CC0B88EA5}"/>
              </a:ext>
            </a:extLst>
          </p:cNvPr>
          <p:cNvSpPr/>
          <p:nvPr/>
        </p:nvSpPr>
        <p:spPr>
          <a:xfrm>
            <a:off x="654493" y="1246372"/>
            <a:ext cx="10243879" cy="5179587"/>
          </a:xfrm>
          <a:prstGeom prst="snip1Rect">
            <a:avLst/>
          </a:prstGeom>
          <a:solidFill>
            <a:schemeClr val="bg1"/>
          </a:solidFill>
          <a:ln w="76200">
            <a:solidFill>
              <a:srgbClr val="D02F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>
              <a:spcAft>
                <a:spcPts val="300"/>
              </a:spcAft>
            </a:pPr>
            <a:r>
              <a:rPr lang="ko-KR" altLang="en-US" b="1" dirty="0">
                <a:solidFill>
                  <a:schemeClr val="tx1"/>
                </a:solidFill>
              </a:rPr>
              <a:t>목표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Docker -&gt; K8s </a:t>
            </a:r>
            <a:r>
              <a:rPr lang="ko-KR" altLang="en-US" dirty="0">
                <a:solidFill>
                  <a:schemeClr val="tx1"/>
                </a:solidFill>
              </a:rPr>
              <a:t>전환 실험</a:t>
            </a: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tx1"/>
                </a:solidFill>
              </a:rPr>
              <a:t>운영 자동화로 인한 비용 최적화 포인트 정리</a:t>
            </a:r>
            <a:endParaRPr lang="en-US" altLang="ko-KR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endParaRPr lang="en-US" altLang="ko-KR" dirty="0">
              <a:solidFill>
                <a:schemeClr val="tx1"/>
              </a:solidFill>
            </a:endParaRPr>
          </a:p>
          <a:p>
            <a:pPr marL="108000">
              <a:spcAft>
                <a:spcPts val="300"/>
              </a:spcAft>
            </a:pPr>
            <a:r>
              <a:rPr lang="ko-KR" altLang="en-US" b="1" dirty="0">
                <a:solidFill>
                  <a:schemeClr val="tx1"/>
                </a:solidFill>
              </a:rPr>
              <a:t>체크 포인트 </a:t>
            </a:r>
            <a:r>
              <a:rPr lang="en-US" altLang="ko-KR" dirty="0">
                <a:solidFill>
                  <a:schemeClr val="tx1"/>
                </a:solidFill>
              </a:rPr>
              <a:t>1. Docker -&gt; K8s </a:t>
            </a:r>
            <a:r>
              <a:rPr lang="ko-KR" altLang="en-US" dirty="0">
                <a:solidFill>
                  <a:schemeClr val="tx1"/>
                </a:solidFill>
              </a:rPr>
              <a:t>컨테이너 배포 성공</a:t>
            </a:r>
            <a:r>
              <a:rPr lang="en-US" altLang="ko-KR" dirty="0">
                <a:solidFill>
                  <a:schemeClr val="tx1"/>
                </a:solidFill>
              </a:rPr>
              <a:t> / 2. </a:t>
            </a:r>
            <a:r>
              <a:rPr lang="ko-KR" altLang="en-US" dirty="0">
                <a:solidFill>
                  <a:schemeClr val="tx1"/>
                </a:solidFill>
              </a:rPr>
              <a:t>모니터링 지표 정상 수집 </a:t>
            </a:r>
            <a:r>
              <a:rPr lang="en-US" altLang="ko-KR" dirty="0">
                <a:solidFill>
                  <a:schemeClr val="tx1"/>
                </a:solidFill>
              </a:rPr>
              <a:t>/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3. </a:t>
            </a:r>
            <a:r>
              <a:rPr lang="ko-KR" altLang="en-US" dirty="0">
                <a:solidFill>
                  <a:schemeClr val="tx1"/>
                </a:solidFill>
              </a:rPr>
              <a:t>자동화로 인한 시간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비용 절감 포인트 정리</a:t>
            </a:r>
            <a:endParaRPr lang="en-US" altLang="ko-KR" dirty="0">
              <a:solidFill>
                <a:schemeClr val="tx1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EB34F52-F5BC-418D-0DEE-E8A708184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030596"/>
              </p:ext>
            </p:extLst>
          </p:nvPr>
        </p:nvGraphicFramePr>
        <p:xfrm>
          <a:off x="838200" y="2859314"/>
          <a:ext cx="8698910" cy="2641600"/>
        </p:xfrm>
        <a:graphic>
          <a:graphicData uri="http://schemas.openxmlformats.org/drawingml/2006/table">
            <a:tbl>
              <a:tblPr>
                <a:tableStyleId>{D03447BB-5D67-496B-8E87-E561075AD55C}</a:tableStyleId>
              </a:tblPr>
              <a:tblGrid>
                <a:gridCol w="1435418">
                  <a:extLst>
                    <a:ext uri="{9D8B030D-6E8A-4147-A177-3AD203B41FA5}">
                      <a16:colId xmlns:a16="http://schemas.microsoft.com/office/drawing/2014/main" val="2899618066"/>
                    </a:ext>
                  </a:extLst>
                </a:gridCol>
                <a:gridCol w="2421164">
                  <a:extLst>
                    <a:ext uri="{9D8B030D-6E8A-4147-A177-3AD203B41FA5}">
                      <a16:colId xmlns:a16="http://schemas.microsoft.com/office/drawing/2014/main" val="91429277"/>
                    </a:ext>
                  </a:extLst>
                </a:gridCol>
                <a:gridCol w="2421164">
                  <a:extLst>
                    <a:ext uri="{9D8B030D-6E8A-4147-A177-3AD203B41FA5}">
                      <a16:colId xmlns:a16="http://schemas.microsoft.com/office/drawing/2014/main" val="1341153562"/>
                    </a:ext>
                  </a:extLst>
                </a:gridCol>
                <a:gridCol w="2421164">
                  <a:extLst>
                    <a:ext uri="{9D8B030D-6E8A-4147-A177-3AD203B41FA5}">
                      <a16:colId xmlns:a16="http://schemas.microsoft.com/office/drawing/2014/main" val="2422106181"/>
                    </a:ext>
                  </a:extLst>
                </a:gridCol>
              </a:tblGrid>
              <a:tr h="388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할 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도구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산출물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57109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인프라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K8s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클러스터용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EC2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준비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(minikube/kubeadm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가능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Terraform, AWS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K8s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클러스터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2922490"/>
                  </a:ext>
                </a:extLst>
              </a:tr>
              <a:tr h="932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서버 자동화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Kubernetes Deployment + Service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실험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기존 </a:t>
                      </a: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Docker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컨테이너 전환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Ansible, Kubernetes, </a:t>
                      </a:r>
                      <a:br>
                        <a:rPr lang="en-US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Deployment YAML, Service YAML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925738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모니터링 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Prometheus/Grafana K8s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메트릭 수집 실험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Prometheus, Grafana, K8s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K8s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모니터링 대시보드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메트릭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테스트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354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709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81927-86D9-8596-C6C3-F83DE4591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93438E3D-6505-C19F-6FEF-B0D9022F84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58" b="97104" l="10000" r="90000">
                        <a14:foregroundMark x1="50000" y1="8687" x2="53000" y2="16023"/>
                        <a14:foregroundMark x1="87250" y1="21815" x2="60750" y2="30309"/>
                        <a14:foregroundMark x1="87000" y1="18919" x2="87750" y2="23166"/>
                        <a14:foregroundMark x1="87750" y1="18340" x2="87000" y2="18340"/>
                        <a14:foregroundMark x1="89250" y1="19305" x2="89500" y2="19884"/>
                        <a14:foregroundMark x1="50250" y1="1544" x2="50250" y2="1544"/>
                        <a14:foregroundMark x1="52250" y1="3282" x2="53500" y2="4440"/>
                        <a14:foregroundMark x1="50500" y1="90154" x2="50500" y2="65830"/>
                        <a14:foregroundMark x1="45500" y1="97104" x2="49000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837"/>
          <a:stretch/>
        </p:blipFill>
        <p:spPr bwMode="auto">
          <a:xfrm>
            <a:off x="10930271" y="3885810"/>
            <a:ext cx="1293628" cy="25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689D79-AD18-E34D-D4A5-B34FE6E30AAC}"/>
              </a:ext>
            </a:extLst>
          </p:cNvPr>
          <p:cNvSpPr txBox="1"/>
          <p:nvPr/>
        </p:nvSpPr>
        <p:spPr>
          <a:xfrm>
            <a:off x="295350" y="283185"/>
            <a:ext cx="11896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5.</a:t>
            </a:r>
            <a:r>
              <a:rPr lang="ko-KR" altLang="en-US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48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To do list</a:t>
            </a:r>
            <a:endParaRPr lang="ko-KR" altLang="en-US" sz="2400" b="1" dirty="0">
              <a:latin typeface="+mj-ea"/>
              <a:ea typeface="+mj-ea"/>
            </a:endParaRPr>
          </a:p>
        </p:txBody>
      </p:sp>
      <p:sp>
        <p:nvSpPr>
          <p:cNvPr id="3" name="사각형: 잘린 한쪽 모서리 2">
            <a:extLst>
              <a:ext uri="{FF2B5EF4-FFF2-40B4-BE49-F238E27FC236}">
                <a16:creationId xmlns:a16="http://schemas.microsoft.com/office/drawing/2014/main" id="{689CB521-B38B-6700-0980-DD46545AE3C0}"/>
              </a:ext>
            </a:extLst>
          </p:cNvPr>
          <p:cNvSpPr/>
          <p:nvPr/>
        </p:nvSpPr>
        <p:spPr>
          <a:xfrm>
            <a:off x="654493" y="1246372"/>
            <a:ext cx="10243879" cy="5179587"/>
          </a:xfrm>
          <a:prstGeom prst="snip1Rect">
            <a:avLst/>
          </a:prstGeom>
          <a:solidFill>
            <a:schemeClr val="bg1"/>
          </a:solidFill>
          <a:ln w="76200">
            <a:solidFill>
              <a:srgbClr val="D02F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>
              <a:spcAft>
                <a:spcPts val="300"/>
              </a:spcAft>
            </a:pPr>
            <a:r>
              <a:rPr lang="en-US" altLang="ko-KR" sz="2800" b="1" dirty="0">
                <a:solidFill>
                  <a:schemeClr val="tx1"/>
                </a:solidFill>
              </a:rPr>
              <a:t>&lt;</a:t>
            </a:r>
            <a:r>
              <a:rPr lang="ko-KR" altLang="en-US" sz="3200" b="1" dirty="0">
                <a:solidFill>
                  <a:schemeClr val="tx1"/>
                </a:solidFill>
              </a:rPr>
              <a:t>우리가 제출할 자료</a:t>
            </a:r>
            <a:r>
              <a:rPr lang="en-US" altLang="ko-KR" sz="3200" b="1" dirty="0">
                <a:solidFill>
                  <a:schemeClr val="tx1"/>
                </a:solidFill>
              </a:rPr>
              <a:t>&gt;</a:t>
            </a:r>
          </a:p>
          <a:p>
            <a:pPr marL="108000">
              <a:spcAft>
                <a:spcPts val="300"/>
              </a:spcAft>
            </a:pPr>
            <a:endParaRPr lang="en-US" altLang="ko-KR" sz="2800" b="1" dirty="0">
              <a:solidFill>
                <a:schemeClr val="tx1"/>
              </a:solidFill>
            </a:endParaRPr>
          </a:p>
          <a:p>
            <a:pPr marL="450900" indent="-342900">
              <a:spcAft>
                <a:spcPts val="300"/>
              </a:spcAft>
              <a:buAutoNum type="arabicPeriod"/>
            </a:pPr>
            <a:r>
              <a:rPr lang="ko-KR" altLang="en-US" sz="3200" b="1" dirty="0">
                <a:solidFill>
                  <a:schemeClr val="tx1"/>
                </a:solidFill>
              </a:rPr>
              <a:t>결과 보고서 </a:t>
            </a:r>
            <a:r>
              <a:rPr lang="en-US" altLang="ko-KR" sz="3200" b="1" dirty="0">
                <a:solidFill>
                  <a:schemeClr val="tx1"/>
                </a:solidFill>
              </a:rPr>
              <a:t>(PPT + PDF) </a:t>
            </a:r>
          </a:p>
          <a:p>
            <a:pPr marL="450900" indent="-342900">
              <a:spcAft>
                <a:spcPts val="300"/>
              </a:spcAft>
              <a:buAutoNum type="arabicPeriod"/>
            </a:pPr>
            <a:r>
              <a:rPr lang="ko-KR" altLang="en-US" sz="3200" b="1" dirty="0">
                <a:solidFill>
                  <a:schemeClr val="tx1"/>
                </a:solidFill>
              </a:rPr>
              <a:t>시연 영상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450900" indent="-342900">
              <a:spcAft>
                <a:spcPts val="300"/>
              </a:spcAft>
              <a:buAutoNum type="arabicPeriod"/>
            </a:pPr>
            <a:r>
              <a:rPr lang="ko-KR" altLang="en-US" sz="3200" b="1" dirty="0">
                <a:solidFill>
                  <a:schemeClr val="tx1"/>
                </a:solidFill>
              </a:rPr>
              <a:t>작업 일지 </a:t>
            </a:r>
            <a:r>
              <a:rPr lang="en-US" altLang="ko-KR" sz="3200" b="1" dirty="0">
                <a:solidFill>
                  <a:schemeClr val="tx1"/>
                </a:solidFill>
              </a:rPr>
              <a:t>(</a:t>
            </a:r>
            <a:r>
              <a:rPr lang="ko-KR" altLang="en-US" sz="3200" b="1" dirty="0">
                <a:solidFill>
                  <a:schemeClr val="tx1"/>
                </a:solidFill>
              </a:rPr>
              <a:t>회의록</a:t>
            </a:r>
            <a:r>
              <a:rPr lang="en-US" altLang="ko-KR" sz="3200" b="1" dirty="0">
                <a:solidFill>
                  <a:schemeClr val="tx1"/>
                </a:solidFill>
              </a:rPr>
              <a:t>)</a:t>
            </a:r>
          </a:p>
          <a:p>
            <a:pPr marL="450900" indent="-342900">
              <a:spcAft>
                <a:spcPts val="300"/>
              </a:spcAft>
              <a:buAutoNum type="arabicPeriod"/>
            </a:pPr>
            <a:r>
              <a:rPr lang="ko-KR" altLang="en-US" sz="3200" b="1" dirty="0">
                <a:solidFill>
                  <a:schemeClr val="tx1"/>
                </a:solidFill>
              </a:rPr>
              <a:t>기타 자료 </a:t>
            </a:r>
            <a:r>
              <a:rPr lang="en-US" altLang="ko-KR" sz="3200" b="1" dirty="0">
                <a:solidFill>
                  <a:schemeClr val="tx1"/>
                </a:solidFill>
              </a:rPr>
              <a:t>(</a:t>
            </a:r>
            <a:r>
              <a:rPr lang="ko-KR" altLang="en-US" sz="3200" b="1" dirty="0">
                <a:solidFill>
                  <a:schemeClr val="tx1"/>
                </a:solidFill>
              </a:rPr>
              <a:t>소스 코드</a:t>
            </a:r>
            <a:r>
              <a:rPr lang="en-US" altLang="ko-KR" sz="3200" b="1" dirty="0">
                <a:solidFill>
                  <a:schemeClr val="tx1"/>
                </a:solidFill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</a:rPr>
              <a:t>데이터</a:t>
            </a:r>
            <a:r>
              <a:rPr lang="en-US" altLang="ko-KR" sz="3200" b="1" dirty="0">
                <a:solidFill>
                  <a:schemeClr val="tx1"/>
                </a:solidFill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</a:rPr>
              <a:t>접속 링크 등 </a:t>
            </a:r>
            <a:br>
              <a:rPr lang="en-US" altLang="ko-KR" sz="3200" b="1" dirty="0">
                <a:solidFill>
                  <a:schemeClr val="tx1"/>
                </a:solidFill>
              </a:rPr>
            </a:br>
            <a:r>
              <a:rPr lang="ko-KR" altLang="en-US" sz="3200" b="1" dirty="0">
                <a:solidFill>
                  <a:schemeClr val="tx1"/>
                </a:solidFill>
              </a:rPr>
              <a:t>결과물에 산출에 활용된 자료</a:t>
            </a:r>
            <a:r>
              <a:rPr lang="en-US" altLang="ko-KR" sz="3200" b="1" dirty="0">
                <a:solidFill>
                  <a:schemeClr val="tx1"/>
                </a:solidFill>
              </a:rPr>
              <a:t>)</a:t>
            </a:r>
          </a:p>
          <a:p>
            <a:pPr marL="108000">
              <a:spcAft>
                <a:spcPts val="300"/>
              </a:spcAft>
            </a:pPr>
            <a:endParaRPr lang="en-US" altLang="ko-KR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332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B69802-D3CA-4FB4-A0D0-4714EEBF99C0}"/>
              </a:ext>
            </a:extLst>
          </p:cNvPr>
          <p:cNvSpPr txBox="1"/>
          <p:nvPr/>
        </p:nvSpPr>
        <p:spPr>
          <a:xfrm>
            <a:off x="3089747" y="2256970"/>
            <a:ext cx="7462806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5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Thank</a:t>
            </a:r>
            <a:r>
              <a:rPr lang="ko-KR" altLang="en-US" sz="115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115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you</a:t>
            </a:r>
          </a:p>
        </p:txBody>
      </p:sp>
      <p:pic>
        <p:nvPicPr>
          <p:cNvPr id="7172" name="Picture 4" descr="kakao emoticon shop | 루피, 웃긴 밈, 웃긴">
            <a:extLst>
              <a:ext uri="{FF2B5EF4-FFF2-40B4-BE49-F238E27FC236}">
                <a16:creationId xmlns:a16="http://schemas.microsoft.com/office/drawing/2014/main" id="{0C7AAFA4-ADDC-46E3-9521-7BFE5F7A8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80872"/>
            <a:ext cx="4377128" cy="4377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435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1305</Words>
  <Application>Microsoft Office PowerPoint</Application>
  <PresentationFormat>와이드스크린</PresentationFormat>
  <Paragraphs>306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Arial</vt:lpstr>
      <vt:lpstr>배달의민족 주아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이민정</dc:creator>
  <cp:lastModifiedBy>하영 이</cp:lastModifiedBy>
  <cp:revision>16</cp:revision>
  <dcterms:created xsi:type="dcterms:W3CDTF">2021-05-08T14:57:32Z</dcterms:created>
  <dcterms:modified xsi:type="dcterms:W3CDTF">2026-02-03T15:18:36Z</dcterms:modified>
</cp:coreProperties>
</file>